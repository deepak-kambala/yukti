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3756"/>
            <a:ext cx="5486400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F66"/>
                </a:solidFill>
                <a:latin typeface="Arial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52767" y="352044"/>
            <a:ext cx="457200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F96"/>
                </a:solidFill>
                <a:latin typeface="Arial"/>
              </a:rPr>
              <a:t>Idea / Approach submission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731520"/>
            <a:ext cx="1105783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120140"/>
            <a:ext cx="5943600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F66"/>
                </a:solidFill>
                <a:latin typeface="Arial"/>
              </a:rPr>
              <a:t>Problem Statement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0452"/>
            <a:ext cx="6035040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26119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51660"/>
            <a:ext cx="5943600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F66"/>
                </a:solidFill>
                <a:latin typeface="Arial"/>
              </a:rPr>
              <a:t>Problem Statement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61972"/>
            <a:ext cx="6035040" cy="4709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Indigenous GPU-Accelerated Optimization Solver —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Arial"/>
              </a:rPr>
              <a:t>a Sovereign Alternative to IBM ILOG CPLEX / Gurobi / FICO 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20924"/>
            <a:ext cx="5943600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F66"/>
                </a:solidFill>
                <a:latin typeface="Arial"/>
              </a:rPr>
              <a:t>Theme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31236"/>
            <a:ext cx="6035040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52444"/>
            <a:ext cx="5943600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F66"/>
                </a:solidFill>
                <a:latin typeface="Arial"/>
              </a:rPr>
              <a:t>PS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62756"/>
            <a:ext cx="6035040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83964"/>
            <a:ext cx="5943600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F66"/>
                </a:solidFill>
                <a:latin typeface="Arial"/>
              </a:rPr>
              <a:t>Team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94276"/>
            <a:ext cx="6035040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015483"/>
            <a:ext cx="5943600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F66"/>
                </a:solidFill>
                <a:latin typeface="Arial"/>
              </a:rPr>
              <a:t>Team Name (Registered on portal)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25796"/>
            <a:ext cx="6035040" cy="278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______________________________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1691640"/>
            <a:ext cx="0" cy="3154680"/>
          </a:xfrm>
          <a:prstGeom prst="line">
            <a:avLst/>
          </a:prstGeom>
          <a:ln w="1143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35240" y="4846320"/>
            <a:ext cx="3657600" cy="0"/>
          </a:xfrm>
          <a:prstGeom prst="line">
            <a:avLst/>
          </a:prstGeom>
          <a:ln w="1143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338560" y="4722876"/>
            <a:ext cx="365760" cy="186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8F96"/>
                </a:solidFill>
                <a:latin typeface="Arial"/>
              </a:rPr>
              <a:t>x1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1613916"/>
            <a:ext cx="365760" cy="186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8F96"/>
                </a:solidFill>
                <a:latin typeface="Arial"/>
              </a:rPr>
              <a:t>x2</a:t>
            </a:r>
          </a:p>
        </p:txBody>
      </p:sp>
      <p:sp>
        <p:nvSpPr>
          <p:cNvPr id="21" name="Freeform 20"/>
          <p:cNvSpPr/>
          <p:nvPr/>
        </p:nvSpPr>
        <p:spPr>
          <a:xfrm>
            <a:off x="7635240" y="2240280"/>
            <a:ext cx="3063240" cy="2606040"/>
          </a:xfrm>
          <a:custGeom>
            <a:avLst/>
            <a:gdLst/>
            <a:ahLst/>
            <a:cxnLst/>
            <a:rect l="l" t="t" r="r" b="b"/>
            <a:pathLst>
              <a:path w="3063240" h="2606040">
                <a:moveTo>
                  <a:pt x="0" y="2606040"/>
                </a:moveTo>
                <a:lnTo>
                  <a:pt x="0" y="822960"/>
                </a:lnTo>
                <a:lnTo>
                  <a:pt x="822960" y="0"/>
                </a:lnTo>
                <a:lnTo>
                  <a:pt x="2286000" y="320040"/>
                </a:lnTo>
                <a:lnTo>
                  <a:pt x="3063240" y="2606040"/>
                </a:lnTo>
                <a:close/>
              </a:path>
            </a:pathLst>
          </a:custGeom>
          <a:solidFill>
            <a:srgbClr val="F2F3F5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726679" y="1879092"/>
            <a:ext cx="2240281" cy="1234440"/>
          </a:xfrm>
          <a:prstGeom prst="line">
            <a:avLst/>
          </a:prstGeom>
          <a:ln w="8890">
            <a:solidFill>
              <a:srgbClr val="8A8F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26679" y="2382012"/>
            <a:ext cx="2514601" cy="1385316"/>
          </a:xfrm>
          <a:prstGeom prst="line">
            <a:avLst/>
          </a:prstGeom>
          <a:ln w="8890">
            <a:solidFill>
              <a:srgbClr val="8A8F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2884932"/>
            <a:ext cx="2743201" cy="1513332"/>
          </a:xfrm>
          <a:prstGeom prst="line">
            <a:avLst/>
          </a:prstGeom>
          <a:ln w="8890">
            <a:solidFill>
              <a:srgbClr val="8A8F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401507" y="2183587"/>
            <a:ext cx="113385" cy="11338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2016252"/>
            <a:ext cx="1463040" cy="23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Arial"/>
              </a:rPr>
              <a:t>x*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2217420"/>
            <a:ext cx="2011680" cy="175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A5F66"/>
                </a:solidFill>
                <a:latin typeface="Arial"/>
              </a:rPr>
              <a:t>optimal vertex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070348"/>
            <a:ext cx="4672584" cy="2175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111"/>
                </a:solidFill>
                <a:latin typeface="Arial"/>
              </a:rPr>
              <a:t>minimise   c · x        subject to    A x  ≤  b ,    x  ≥ 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381244"/>
            <a:ext cx="4672584" cy="4632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The simplex method walks the vertices of this polytope to an optimum.</a:t>
            </a:r>
          </a:p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Everything that does the walking here — the pivoting, the basis solves,</a:t>
            </a:r>
          </a:p>
          <a:p>
            <a:pPr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the branch-and-bound tree above it — is our own code.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5852160"/>
            <a:ext cx="32918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5911596"/>
            <a:ext cx="4572000" cy="3027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SANKHYA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149340"/>
            <a:ext cx="548640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Sovereign Algorithmic Numerical Kernel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364224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414516"/>
            <a:ext cx="457200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6414516"/>
            <a:ext cx="804672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A from-scratch LP, MILP and QP solver core — the solver itself is the deliverable.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4287" y="6414516"/>
            <a:ext cx="38404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Smart India Hackathon 2026  ·  PS 26119  ·  SANKHYA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7179"/>
            <a:ext cx="7772400" cy="426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38367" y="461772"/>
            <a:ext cx="548640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A8F96"/>
                </a:solidFill>
                <a:latin typeface="Arial"/>
              </a:rPr>
              <a:t>What we are building, and what is already working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905256"/>
            <a:ext cx="1105783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73836"/>
            <a:ext cx="4114800" cy="5661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11111"/>
                </a:solidFill>
                <a:latin typeface="Arial"/>
              </a:rPr>
              <a:t>SANKHYA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9052"/>
            <a:ext cx="4069080" cy="332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A5F66"/>
                </a:solidFill>
                <a:latin typeface="Arial"/>
              </a:rPr>
              <a:t>Sovereign Algorithmic Numerical Kernel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5A5F66"/>
                </a:solidFill>
                <a:latin typeface="Arial"/>
              </a:rPr>
              <a:t>Hybrid · Yield-verified · Auditable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8236"/>
            <a:ext cx="4069080" cy="584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8A8F96"/>
                </a:solidFill>
                <a:latin typeface="Arial"/>
              </a:rPr>
              <a:t>sankhya (Sanskrit): number, enumeration — which is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8A8F96"/>
                </a:solidFill>
                <a:latin typeface="Arial"/>
              </a:rPr>
              <a:t>what the core actually does: enumerate vertices with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8A8F96"/>
                </a:solidFill>
                <a:latin typeface="Arial"/>
              </a:rPr>
              <a:t>the simplex, enumerate integer points with branch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8A8F96"/>
                </a:solidFill>
                <a:latin typeface="Arial"/>
              </a:rPr>
              <a:t>and 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973836"/>
            <a:ext cx="6775704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Arial"/>
              </a:rPr>
              <a:t>What we are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93292"/>
            <a:ext cx="6775704" cy="11031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Arial"/>
              </a:rPr>
              <a:t>A mathematical optimization solver core, written from the algorithms upward. The solver is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Arial"/>
              </a:rPr>
              <a:t>the product; the modelling layer stays deliberately thin — a CLI, an MPS reader, a small API.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Arial"/>
              </a:rPr>
              <a:t>No external optimization solver is called anywhere inside it: not CPLEX, Gurobi, Xpress,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Arial"/>
              </a:rPr>
              <a:t>HiGHS, CBC, GLPK, SCIP, OR-Tools, PuLP, Pyomo, CVXPY or scipy.optimize. Even the linear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Arial"/>
              </a:rPr>
              <a:t>algebra is ours — every basis solve is hand-written Gaussian elimination with partial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11111"/>
                </a:solidFill>
                <a:latin typeface="Arial"/>
              </a:rPr>
              <a:t>pivoting, not a library call. numpy stores arrays; it never solves the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304288"/>
            <a:ext cx="6775704" cy="3291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4336" y="2354579"/>
            <a:ext cx="653796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ial"/>
              </a:rPr>
              <a:t>The gap is not modelling tools. It is that the solver core underneath every one of them is foreign.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29484"/>
            <a:ext cx="548640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Solver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80944"/>
            <a:ext cx="1737360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49523"/>
            <a:ext cx="173736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78123"/>
            <a:ext cx="1591056" cy="530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LP · MILP · QP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variables, bounds,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rows, objective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MPS file or API</a:t>
            </a:r>
          </a:p>
        </p:txBody>
      </p:sp>
      <p:sp>
        <p:nvSpPr>
          <p:cNvPr id="16" name="Freeform 15"/>
          <p:cNvSpPr/>
          <p:nvPr/>
        </p:nvSpPr>
        <p:spPr>
          <a:xfrm>
            <a:off x="2318461" y="3447288"/>
            <a:ext cx="106985" cy="164591"/>
          </a:xfrm>
          <a:custGeom>
            <a:avLst/>
            <a:gdLst/>
            <a:ahLst/>
            <a:cxnLst/>
            <a:rect l="l" t="t" r="r" b="b"/>
            <a:pathLst>
              <a:path w="106985" h="164591">
                <a:moveTo>
                  <a:pt x="0" y="0"/>
                </a:moveTo>
                <a:lnTo>
                  <a:pt x="106985" y="82296"/>
                </a:lnTo>
                <a:lnTo>
                  <a:pt x="0" y="16459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2980944"/>
            <a:ext cx="1737360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3049523"/>
            <a:ext cx="173736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ial"/>
              </a:rPr>
              <a:t>PRESOLVE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3278123"/>
            <a:ext cx="1591056" cy="530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row and column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reductions,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fully reversible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by postsolve</a:t>
            </a:r>
          </a:p>
        </p:txBody>
      </p:sp>
      <p:sp>
        <p:nvSpPr>
          <p:cNvPr id="20" name="Freeform 19"/>
          <p:cNvSpPr/>
          <p:nvPr/>
        </p:nvSpPr>
        <p:spPr>
          <a:xfrm>
            <a:off x="4174693" y="3447288"/>
            <a:ext cx="106985" cy="164591"/>
          </a:xfrm>
          <a:custGeom>
            <a:avLst/>
            <a:gdLst/>
            <a:ahLst/>
            <a:cxnLst/>
            <a:rect l="l" t="t" r="r" b="b"/>
            <a:pathLst>
              <a:path w="106985" h="164591">
                <a:moveTo>
                  <a:pt x="0" y="0"/>
                </a:moveTo>
                <a:lnTo>
                  <a:pt x="106985" y="82296"/>
                </a:lnTo>
                <a:lnTo>
                  <a:pt x="0" y="16459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2980944"/>
            <a:ext cx="1737360" cy="109728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3049523"/>
            <a:ext cx="173736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SOLVER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3278123"/>
            <a:ext cx="1591056" cy="530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D8DADD"/>
                </a:solidFill>
                <a:latin typeface="Arial"/>
              </a:rPr>
              <a:t>two-phase revised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D8DADD"/>
                </a:solidFill>
                <a:latin typeface="Arial"/>
              </a:rPr>
              <a:t>simplex (Bland)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D8DADD"/>
                </a:solidFill>
                <a:latin typeface="Arial"/>
              </a:rPr>
              <a:t>branch and bound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D8DADD"/>
                </a:solidFill>
                <a:latin typeface="Arial"/>
              </a:rPr>
              <a:t>QP layer: next</a:t>
            </a:r>
          </a:p>
        </p:txBody>
      </p:sp>
      <p:sp>
        <p:nvSpPr>
          <p:cNvPr id="24" name="Freeform 23"/>
          <p:cNvSpPr/>
          <p:nvPr/>
        </p:nvSpPr>
        <p:spPr>
          <a:xfrm>
            <a:off x="6030925" y="3447288"/>
            <a:ext cx="106985" cy="164591"/>
          </a:xfrm>
          <a:custGeom>
            <a:avLst/>
            <a:gdLst/>
            <a:ahLst/>
            <a:cxnLst/>
            <a:rect l="l" t="t" r="r" b="b"/>
            <a:pathLst>
              <a:path w="106985" h="164591">
                <a:moveTo>
                  <a:pt x="0" y="0"/>
                </a:moveTo>
                <a:lnTo>
                  <a:pt x="106985" y="82296"/>
                </a:lnTo>
                <a:lnTo>
                  <a:pt x="0" y="16459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35624" y="2980944"/>
            <a:ext cx="1737360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3049523"/>
            <a:ext cx="173736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ial"/>
              </a:rPr>
              <a:t>NUMERICAL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278123"/>
            <a:ext cx="1591056" cy="530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basis solves,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equilibration,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pivot tolerances,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factorization</a:t>
            </a:r>
          </a:p>
        </p:txBody>
      </p:sp>
      <p:sp>
        <p:nvSpPr>
          <p:cNvPr id="28" name="Freeform 27"/>
          <p:cNvSpPr/>
          <p:nvPr/>
        </p:nvSpPr>
        <p:spPr>
          <a:xfrm>
            <a:off x="7887157" y="3447288"/>
            <a:ext cx="106985" cy="164591"/>
          </a:xfrm>
          <a:custGeom>
            <a:avLst/>
            <a:gdLst/>
            <a:ahLst/>
            <a:cxnLst/>
            <a:rect l="l" t="t" r="r" b="b"/>
            <a:pathLst>
              <a:path w="106985" h="164591">
                <a:moveTo>
                  <a:pt x="0" y="0"/>
                </a:moveTo>
                <a:lnTo>
                  <a:pt x="106985" y="82296"/>
                </a:lnTo>
                <a:lnTo>
                  <a:pt x="0" y="16459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1855" y="2980944"/>
            <a:ext cx="1737360" cy="1097280"/>
          </a:xfrm>
          <a:prstGeom prst="rect">
            <a:avLst/>
          </a:prstGeom>
          <a:solidFill>
            <a:srgbClr val="FFFFFF"/>
          </a:solidFill>
          <a:ln w="11430">
            <a:solidFill>
              <a:srgbClr val="5A5F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5" y="3049523"/>
            <a:ext cx="173736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A5F66"/>
                </a:solidFill>
                <a:latin typeface="Arial"/>
              </a:rPr>
              <a:t>ACCELERATION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7" y="3278123"/>
            <a:ext cx="1591056" cy="530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8A8F96"/>
                </a:solidFill>
                <a:latin typeface="Arial"/>
              </a:rPr>
              <a:t>sparse kernels,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8A8F96"/>
                </a:solidFill>
                <a:latin typeface="Arial"/>
              </a:rPr>
              <a:t>parallel vector ops,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8A8F96"/>
                </a:solidFill>
                <a:latin typeface="Arial"/>
              </a:rPr>
              <a:t>GPU where profiling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8A8F96"/>
                </a:solidFill>
                <a:latin typeface="Arial"/>
              </a:rPr>
              <a:t>shows a benefit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1855" y="3863339"/>
            <a:ext cx="1737360" cy="1571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5A5F66"/>
                </a:solidFill>
                <a:latin typeface="Arial"/>
              </a:rPr>
              <a:t>BUILD NEXT</a:t>
            </a:r>
          </a:p>
        </p:txBody>
      </p:sp>
      <p:sp>
        <p:nvSpPr>
          <p:cNvPr id="33" name="Freeform 32"/>
          <p:cNvSpPr/>
          <p:nvPr/>
        </p:nvSpPr>
        <p:spPr>
          <a:xfrm>
            <a:off x="9743389" y="3447288"/>
            <a:ext cx="106985" cy="164591"/>
          </a:xfrm>
          <a:custGeom>
            <a:avLst/>
            <a:gdLst/>
            <a:ahLst/>
            <a:cxnLst/>
            <a:rect l="l" t="t" r="r" b="b"/>
            <a:pathLst>
              <a:path w="106985" h="164591">
                <a:moveTo>
                  <a:pt x="0" y="0"/>
                </a:moveTo>
                <a:lnTo>
                  <a:pt x="106985" y="82296"/>
                </a:lnTo>
                <a:lnTo>
                  <a:pt x="0" y="16459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48087" y="2980944"/>
            <a:ext cx="1737360" cy="109728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8087" y="3049523"/>
            <a:ext cx="173736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ial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39" y="3278123"/>
            <a:ext cx="1591056" cy="530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status, objective,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solution vector,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MIP gap, runtime,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verification, 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261104"/>
            <a:ext cx="105156" cy="10515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201668"/>
            <a:ext cx="5413248" cy="1912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"/>
              </a:rPr>
              <a:t>VALIDATED NOW — implemented, tested and reproducible in the 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448556"/>
            <a:ext cx="5413248" cy="965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111111"/>
                </a:solidFill>
                <a:latin typeface="Arial"/>
              </a:rPr>
              <a:t>—   Two-phase revised simplex, Bland's rule, our own Gaussian-elimination basis solves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111111"/>
                </a:solidFill>
                <a:latin typeface="Arial"/>
              </a:rPr>
              <a:t>—   Reversible presolve and postsolve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111111"/>
                </a:solidFill>
                <a:latin typeface="Arial"/>
              </a:rPr>
              <a:t>—   Branch and bound MILP built on our own LP relaxations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111111"/>
                </a:solidFill>
                <a:latin typeface="Arial"/>
              </a:rPr>
              <a:t>—   Automatic matrix equilibration recovers ill-conditioned models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111111"/>
                </a:solidFill>
                <a:latin typeface="Arial"/>
              </a:rPr>
              <a:t>—   Independent verification of every reported solution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111111"/>
                </a:solidFill>
                <a:latin typeface="Arial"/>
              </a:rPr>
              <a:t>—   MPS input, benchmark runner, exact rational optimality oracle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8776" y="4261104"/>
            <a:ext cx="105156" cy="105156"/>
          </a:xfrm>
          <a:prstGeom prst="rect">
            <a:avLst/>
          </a:prstGeom>
          <a:noFill/>
          <a:ln w="11430">
            <a:solidFill>
              <a:srgbClr val="5A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4201668"/>
            <a:ext cx="5413248" cy="1912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5A5F66"/>
                </a:solidFill>
                <a:latin typeface="Arial"/>
              </a:rPr>
              <a:t>BUILD NEXT — designed, not yet built, and not claimed as working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08776" y="4448556"/>
            <a:ext cx="5413248" cy="965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A5F66"/>
                </a:solidFill>
                <a:latin typeface="Arial"/>
              </a:rPr>
              <a:t>—   QP layer: convex quadratic objective on the same numerical engine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A5F66"/>
                </a:solidFill>
                <a:latin typeface="Arial"/>
              </a:rPr>
              <a:t>—   Sparse LU factorization with product-form updates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A5F66"/>
                </a:solidFill>
                <a:latin typeface="Arial"/>
              </a:rPr>
              <a:t>—   Bounded-variable simplex; dual simplex and warm starts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A5F66"/>
                </a:solidFill>
                <a:latin typeface="Arial"/>
              </a:rPr>
              <a:t>—   Cutting planes, pseudocost branching, primal heuristics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A5F66"/>
                </a:solidFill>
                <a:latin typeface="Arial"/>
              </a:rPr>
              <a:t>—   GPU kernels for the numerical hot path</a:t>
            </a:r>
          </a:p>
          <a:p>
            <a:pPr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A5F66"/>
                </a:solidFill>
                <a:latin typeface="Arial"/>
              </a:rPr>
              <a:t>—   Netlib / MIPLIB validation and a reference-solver comparison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5614416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5692140"/>
            <a:ext cx="2123785" cy="188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11111"/>
                </a:solidFill>
                <a:latin typeface="Arial"/>
              </a:rPr>
              <a:t>From-scratch solver 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856732"/>
            <a:ext cx="212378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Simplex, branch and bound and every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basis solve are our own code.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0441" y="5692140"/>
            <a:ext cx="2123785" cy="188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11111"/>
                </a:solidFill>
                <a:latin typeface="Arial"/>
              </a:rPr>
              <a:t>Numerical transparency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0441" y="5856732"/>
            <a:ext cx="212378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Pivot rules, tolerances and scaling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are visible and changeable.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3954" y="5692140"/>
            <a:ext cx="2123785" cy="188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11111"/>
                </a:solidFill>
                <a:latin typeface="Arial"/>
              </a:rPr>
              <a:t>Selective acceleration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3954" y="5856732"/>
            <a:ext cx="212378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GPU aimed at a profiled bottleneck,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not at the whole solver.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7468" y="5692140"/>
            <a:ext cx="2123785" cy="188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11111"/>
                </a:solidFill>
                <a:latin typeface="Arial"/>
              </a:rPr>
              <a:t>Industrial model focus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7468" y="5856732"/>
            <a:ext cx="212378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Built against refinery blending and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scheduling structure.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0981" y="5692140"/>
            <a:ext cx="2123785" cy="188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11111"/>
                </a:solidFill>
                <a:latin typeface="Arial"/>
              </a:rPr>
              <a:t>Verifiable 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0981" y="5856732"/>
            <a:ext cx="212378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Every solution is re-checked by code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that did not produce it.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364224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" y="6414516"/>
            <a:ext cx="457200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" y="6414516"/>
            <a:ext cx="804672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The solver core is the product — the modelling layer stays thin on purpose.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4287" y="6414516"/>
            <a:ext cx="38404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Smart India Hackathon 2026  ·  PS 26119  ·  SANKHYA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7179"/>
            <a:ext cx="7772400" cy="426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38367" y="461772"/>
            <a:ext cx="548640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A8F96"/>
                </a:solidFill>
                <a:latin typeface="Arial"/>
              </a:rPr>
              <a:t>Methodology  ·  selective acceleration  ·  what makes the output trustworthy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905256"/>
            <a:ext cx="1105783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55548"/>
            <a:ext cx="548640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How a model is actually solved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56773" y="1463040"/>
            <a:ext cx="9478148" cy="0"/>
          </a:xfrm>
          <a:prstGeom prst="line">
            <a:avLst/>
          </a:prstGeom>
          <a:ln w="1016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51617" y="1357884"/>
            <a:ext cx="210312" cy="210312"/>
          </a:xfrm>
          <a:prstGeom prst="rect">
            <a:avLst/>
          </a:prstGeom>
          <a:solidFill>
            <a:srgbClr val="111111"/>
          </a:solidFill>
          <a:ln w="114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7" y="1632204"/>
            <a:ext cx="1579691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7" y="1787652"/>
            <a:ext cx="1579691" cy="286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rows, columns,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bounds, 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1308" y="1357884"/>
            <a:ext cx="210312" cy="210312"/>
          </a:xfrm>
          <a:prstGeom prst="rect">
            <a:avLst/>
          </a:prstGeom>
          <a:solidFill>
            <a:srgbClr val="111111"/>
          </a:solidFill>
          <a:ln w="114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6619" y="1632204"/>
            <a:ext cx="1579691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PRESOLVE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619" y="1787652"/>
            <a:ext cx="1579691" cy="286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reduce and record,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reversibly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1000" y="1357884"/>
            <a:ext cx="210312" cy="210312"/>
          </a:xfrm>
          <a:prstGeom prst="rect">
            <a:avLst/>
          </a:prstGeom>
          <a:solidFill>
            <a:srgbClr val="111111"/>
          </a:solidFill>
          <a:ln w="114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6310" y="1632204"/>
            <a:ext cx="1579691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NUMERICAL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6310" y="1787652"/>
            <a:ext cx="1579691" cy="286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basis solves,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scaling, tolerances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90691" y="1357884"/>
            <a:ext cx="210312" cy="210312"/>
          </a:xfrm>
          <a:prstGeom prst="rect">
            <a:avLst/>
          </a:prstGeom>
          <a:solidFill>
            <a:srgbClr val="111111"/>
          </a:solidFill>
          <a:ln w="114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6001" y="1632204"/>
            <a:ext cx="1579691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6001" y="1787652"/>
            <a:ext cx="1579691" cy="286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simplex pivots,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B&amp;B tree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70382" y="1357884"/>
            <a:ext cx="210312" cy="210312"/>
          </a:xfrm>
          <a:prstGeom prst="rect">
            <a:avLst/>
          </a:prstGeom>
          <a:solidFill>
            <a:srgbClr val="FFFFFF"/>
          </a:solidFill>
          <a:ln w="11430">
            <a:solidFill>
              <a:srgbClr val="5A5F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693" y="1632204"/>
            <a:ext cx="1579691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ACCELERATION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693" y="1787652"/>
            <a:ext cx="1579691" cy="286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kernel level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(build next)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0074" y="1357884"/>
            <a:ext cx="210312" cy="210312"/>
          </a:xfrm>
          <a:prstGeom prst="rect">
            <a:avLst/>
          </a:prstGeom>
          <a:solidFill>
            <a:srgbClr val="111111"/>
          </a:solidFill>
          <a:ln w="114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5384" y="1632204"/>
            <a:ext cx="1579691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5384" y="1787652"/>
            <a:ext cx="1579691" cy="286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independent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re-check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29765" y="1357884"/>
            <a:ext cx="210312" cy="210312"/>
          </a:xfrm>
          <a:prstGeom prst="rect">
            <a:avLst/>
          </a:prstGeom>
          <a:solidFill>
            <a:srgbClr val="111111"/>
          </a:solidFill>
          <a:ln w="1143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5075" y="1632204"/>
            <a:ext cx="1579691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5075" y="1787652"/>
            <a:ext cx="1579691" cy="286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status, objective,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F66"/>
                </a:solidFill>
                <a:latin typeface="Arial"/>
              </a:rPr>
              <a:t>gap, solver log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55230" y="2066544"/>
            <a:ext cx="0" cy="73152"/>
          </a:xfrm>
          <a:prstGeom prst="line">
            <a:avLst/>
          </a:prstGeom>
          <a:ln w="1016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516156" y="2139696"/>
            <a:ext cx="4739074" cy="0"/>
          </a:xfrm>
          <a:prstGeom prst="line">
            <a:avLst/>
          </a:prstGeom>
          <a:ln w="1016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516156" y="2066544"/>
            <a:ext cx="0" cy="73152"/>
          </a:xfrm>
          <a:prstGeom prst="line">
            <a:avLst/>
          </a:prstGeom>
          <a:ln w="1016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4465864" y="2066544"/>
            <a:ext cx="100584" cy="109728"/>
          </a:xfrm>
          <a:custGeom>
            <a:avLst/>
            <a:gdLst/>
            <a:ahLst/>
            <a:cxnLst/>
            <a:rect l="l" t="t" r="r" b="b"/>
            <a:pathLst>
              <a:path w="100584" h="109728">
                <a:moveTo>
                  <a:pt x="0" y="109728"/>
                </a:moveTo>
                <a:lnTo>
                  <a:pt x="100584" y="109728"/>
                </a:lnTo>
                <a:lnTo>
                  <a:pt x="50292" y="0"/>
                </a:lnTo>
                <a:close/>
              </a:path>
            </a:pathLst>
          </a:custGeom>
          <a:solidFill>
            <a:srgbClr val="5A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6156" y="2153411"/>
            <a:ext cx="4739073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numerical failure or a badly conditioned basis  →  re-scale, re-factorize, re-solve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528315"/>
            <a:ext cx="566928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Where the time actually goes — measured, not assumed</a:t>
            </a:r>
          </a:p>
        </p:txBody>
      </p:sp>
      <p:pic>
        <p:nvPicPr>
          <p:cNvPr id="34" name="Picture 33" descr="fig_hotsp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61488"/>
            <a:ext cx="5440680" cy="133769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6928" y="4140334"/>
            <a:ext cx="5669280" cy="1171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>98.6% of solve time on refinery_lp_large (96 variables) is inside our own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>Gaussian elimination. cProfile and direct instrumentation were run separately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>and agree to 0.3 percentage points. Presolve, pivot selection, the ratio test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>and verification together are the other 1.4%.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/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>That one number decides the acceleration plan. There is a single hot path, and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>its first fix is sparse LU with factorization updates on the CPU — not a GPU.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11111"/>
                </a:solidFill>
                <a:latin typeface="Arial"/>
              </a:rPr>
              <a:t>At this size the basis is tens of rows: far too small to pay for a transfer.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28315"/>
            <a:ext cx="5175504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Selective acceleration — what runs where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2779776"/>
            <a:ext cx="5175504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2802636"/>
            <a:ext cx="4919472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CPU — control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4536" y="2967228"/>
            <a:ext cx="4919472" cy="1648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model parsing · presolve · pivot selection · branch decisions · tree management</a:t>
            </a:r>
          </a:p>
        </p:txBody>
      </p:sp>
      <p:sp>
        <p:nvSpPr>
          <p:cNvPr id="40" name="Freeform 39"/>
          <p:cNvSpPr/>
          <p:nvPr/>
        </p:nvSpPr>
        <p:spPr>
          <a:xfrm>
            <a:off x="9006611" y="3159251"/>
            <a:ext cx="65379" cy="100585"/>
          </a:xfrm>
          <a:custGeom>
            <a:avLst/>
            <a:gdLst/>
            <a:ahLst/>
            <a:cxnLst/>
            <a:rect l="l" t="t" r="r" b="b"/>
            <a:pathLst>
              <a:path w="65379" h="100585">
                <a:moveTo>
                  <a:pt x="0" y="0"/>
                </a:moveTo>
                <a:lnTo>
                  <a:pt x="65379" y="50293"/>
                </a:lnTo>
                <a:lnTo>
                  <a:pt x="0" y="100585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46520" y="3236976"/>
            <a:ext cx="5175504" cy="402336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3259836"/>
            <a:ext cx="4919472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FFFFFF"/>
                </a:solidFill>
                <a:latin typeface="Arial"/>
              </a:rPr>
              <a:t>NUMERICAL KERNELS — the hot 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4536" y="3424428"/>
            <a:ext cx="4919472" cy="1648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D8DADD"/>
                </a:solidFill>
                <a:latin typeface="Arial"/>
              </a:rPr>
              <a:t>basis factorization · triangular solves · sparse mat-vec · vector updates</a:t>
            </a:r>
          </a:p>
        </p:txBody>
      </p:sp>
      <p:sp>
        <p:nvSpPr>
          <p:cNvPr id="44" name="Freeform 43"/>
          <p:cNvSpPr/>
          <p:nvPr/>
        </p:nvSpPr>
        <p:spPr>
          <a:xfrm>
            <a:off x="9006611" y="3616451"/>
            <a:ext cx="65379" cy="100584"/>
          </a:xfrm>
          <a:custGeom>
            <a:avLst/>
            <a:gdLst/>
            <a:ahLst/>
            <a:cxnLst/>
            <a:rect l="l" t="t" r="r" b="b"/>
            <a:pathLst>
              <a:path w="65379" h="100584">
                <a:moveTo>
                  <a:pt x="0" y="0"/>
                </a:moveTo>
                <a:lnTo>
                  <a:pt x="65379" y="50293"/>
                </a:lnTo>
                <a:lnTo>
                  <a:pt x="0" y="100584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46520" y="3694176"/>
            <a:ext cx="5175504" cy="402336"/>
          </a:xfrm>
          <a:prstGeom prst="rect">
            <a:avLst/>
          </a:prstGeom>
          <a:solidFill>
            <a:srgbClr val="FFFFFF"/>
          </a:solidFill>
          <a:ln w="11430">
            <a:solidFill>
              <a:srgbClr val="5A5F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4536" y="3717035"/>
            <a:ext cx="4919472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5A5F66"/>
                </a:solidFill>
                <a:latin typeface="Arial"/>
              </a:rPr>
              <a:t>GPU — candidate, never the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4536" y="3881628"/>
            <a:ext cx="4919472" cy="1648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8A8F96"/>
                </a:solidFill>
                <a:latin typeface="Arial"/>
              </a:rPr>
              <a:t>only kernels large enough to amortise transfer, chosen by profiling</a:t>
            </a:r>
          </a:p>
        </p:txBody>
      </p:sp>
      <p:sp>
        <p:nvSpPr>
          <p:cNvPr id="48" name="Freeform 47"/>
          <p:cNvSpPr/>
          <p:nvPr/>
        </p:nvSpPr>
        <p:spPr>
          <a:xfrm>
            <a:off x="9006611" y="4073652"/>
            <a:ext cx="65379" cy="100583"/>
          </a:xfrm>
          <a:custGeom>
            <a:avLst/>
            <a:gdLst/>
            <a:ahLst/>
            <a:cxnLst/>
            <a:rect l="l" t="t" r="r" b="b"/>
            <a:pathLst>
              <a:path w="65379" h="100583">
                <a:moveTo>
                  <a:pt x="0" y="0"/>
                </a:moveTo>
                <a:lnTo>
                  <a:pt x="65379" y="50292"/>
                </a:lnTo>
                <a:lnTo>
                  <a:pt x="0" y="100583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46520" y="4151376"/>
            <a:ext cx="5175504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4536" y="4174235"/>
            <a:ext cx="4919472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CPU — 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74536" y="4338828"/>
            <a:ext cx="4919472" cy="1648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A5F66"/>
                </a:solidFill>
                <a:latin typeface="Arial"/>
              </a:rPr>
              <a:t>incumbent bookkeeping · independent verification · solution, gap and log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4700016"/>
            <a:ext cx="5175504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74536" y="4741164"/>
            <a:ext cx="4919472" cy="345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"/>
              </a:rPr>
              <a:t>GPU acceleration is applied to measurable numerical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"/>
              </a:rPr>
              <a:t>bottlenecks, not forced onto irregular solver logic.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74536" y="5052059"/>
            <a:ext cx="4919472" cy="1695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A5F66"/>
                </a:solidFill>
                <a:latin typeface="Arial"/>
              </a:rPr>
              <a:t>No GPU experiment has been run. No GPU speedup is claimed anywhere.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5413248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5472683"/>
            <a:ext cx="640080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Three checks that make the output trustworthy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692140"/>
            <a:ext cx="3551834" cy="186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Arial"/>
              </a:rPr>
              <a:t>Independent verification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856732"/>
            <a:ext cx="3551834" cy="5425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Every reported solution is re-checked against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the original model from raw coefficients, by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code separate from the solver. If it fails, the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status is NUMERICAL_FAILURE, never OPTIMAL.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9930" y="5692140"/>
            <a:ext cx="3551834" cy="186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Arial"/>
              </a:rPr>
              <a:t>Sound optimality claims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9930" y="5856732"/>
            <a:ext cx="3551834" cy="5425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No path may report OPTIMAL, a 0% gap or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INFEASIBLE unless it was actually proven. An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audit found two paths that did; both are fixed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and locked by tests.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72932" y="5692140"/>
            <a:ext cx="3551834" cy="1865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Arial"/>
              </a:rPr>
              <a:t>Exact rational oracle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72932" y="5856732"/>
            <a:ext cx="3551834" cy="5425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Declared optima are re-derived in exact Fraction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arithmetic — Cramer's rule for LP, exhaustive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enumeration for MILP — sharing no code and no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floating point with the simplex. 8/8 confirmed.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6928" y="6364224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928" y="6414516"/>
            <a:ext cx="457200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" y="6414516"/>
            <a:ext cx="804672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Acceleration follows a measurement: 98.6% of solve time is in our own basis solves.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84287" y="6414516"/>
            <a:ext cx="38404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Smart India Hackathon 2026  ·  PS 26119  ·  SANKHYA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7179"/>
            <a:ext cx="7772400" cy="426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38367" y="461772"/>
            <a:ext cx="548640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A8F96"/>
                </a:solidFill>
                <a:latin typeface="Arial"/>
              </a:rPr>
              <a:t>What is already validated  ·  what is still hard  ·  what comes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905256"/>
            <a:ext cx="1105783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66928" y="987552"/>
            <a:ext cx="11057839" cy="78638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28700"/>
            <a:ext cx="1842973" cy="411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2748"/>
            <a:ext cx="1842973" cy="295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tests passed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0 failed, 0 skipped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9901" y="1060704"/>
            <a:ext cx="0" cy="64008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09901" y="1028700"/>
            <a:ext cx="1842973" cy="411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9901" y="1412748"/>
            <a:ext cx="1842973" cy="295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benchmark instances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run end to 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52874" y="1060704"/>
            <a:ext cx="0" cy="64008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52874" y="1028700"/>
            <a:ext cx="1842973" cy="411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2874" y="1412748"/>
            <a:ext cx="1842973" cy="295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solved OPTIMAL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and verified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1060704"/>
            <a:ext cx="0" cy="64008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5847" y="1028700"/>
            <a:ext cx="1842973" cy="411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1412748"/>
            <a:ext cx="1842973" cy="295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correctly detected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INFEASIBLE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38820" y="1060704"/>
            <a:ext cx="0" cy="64008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38820" y="1028700"/>
            <a:ext cx="1842973" cy="411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8/8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8820" y="1412748"/>
            <a:ext cx="1842973" cy="295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known optima matched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by an exact oracle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81794" y="1060704"/>
            <a:ext cx="0" cy="64008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781794" y="1028700"/>
            <a:ext cx="1842973" cy="411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1794" y="1412748"/>
            <a:ext cx="1842973" cy="295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numerical failures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A5F66"/>
                </a:solidFill>
                <a:latin typeface="Arial"/>
              </a:rPr>
              <a:t>0 exceptions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888236"/>
            <a:ext cx="603504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Three representative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139696"/>
            <a:ext cx="5989320" cy="219456"/>
          </a:xfrm>
          <a:prstGeom prst="rect">
            <a:avLst/>
          </a:prstGeom>
          <a:solidFill>
            <a:srgbClr val="E4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2162556"/>
            <a:ext cx="196596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Instance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2" y="2162556"/>
            <a:ext cx="13258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What it 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1" y="2162556"/>
            <a:ext cx="196596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9591" y="2162556"/>
            <a:ext cx="73152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Time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2779776"/>
            <a:ext cx="59893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2409444"/>
            <a:ext cx="1874519" cy="1786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refinery_lp_large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2409444"/>
            <a:ext cx="1234439" cy="3025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96 vars, 37 rows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synthetic refinery 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1" y="2409444"/>
            <a:ext cx="1874519" cy="3025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OPTIMAL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674 simplex iterations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9591" y="2409444"/>
            <a:ext cx="640080" cy="1786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1.6652 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3200400"/>
            <a:ext cx="59893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2830068"/>
            <a:ext cx="1874519" cy="1786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refinery_milp_small_batches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87752" y="2830068"/>
            <a:ext cx="1234439" cy="3025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6 vars, 10 rows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integer batch sizes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1" y="2830068"/>
            <a:ext cx="1874519" cy="3025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OPTIMAL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15 B&amp;B nodes, 0.0000%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9591" y="2830068"/>
            <a:ext cx="640080" cy="1786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0.0378 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3621024"/>
            <a:ext cx="59893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3250691"/>
            <a:ext cx="1874519" cy="1786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lp_ill_conditioned_1e12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7752" y="3250691"/>
            <a:ext cx="1234439" cy="3025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coefficient spread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of 1e12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13631" y="3250691"/>
            <a:ext cx="1874519" cy="3025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NUMERICAL_FAILURE without scaling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OPTIMAL with auto scaling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591" y="3250691"/>
            <a:ext cx="640080" cy="1786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0.0002 s</a:t>
            </a:r>
          </a:p>
        </p:txBody>
      </p:sp>
      <p:pic>
        <p:nvPicPr>
          <p:cNvPr id="44" name="Picture 43" descr="fig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66543"/>
            <a:ext cx="4901184" cy="263909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0840" y="1888236"/>
            <a:ext cx="4901184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Measured cost of the current basis solve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09644"/>
            <a:ext cx="731520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Risks we can already name, and what we do about them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261104"/>
            <a:ext cx="11057839" cy="201168"/>
          </a:xfrm>
          <a:prstGeom prst="rect">
            <a:avLst/>
          </a:prstGeom>
          <a:solidFill>
            <a:srgbClr val="E4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274820"/>
            <a:ext cx="210312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4912" y="4274820"/>
            <a:ext cx="402336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Why it matters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4274820"/>
            <a:ext cx="4931359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What we do about it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6928" y="4809744"/>
            <a:ext cx="11057839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1792" y="4485131"/>
            <a:ext cx="1993391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Arial"/>
              </a:rPr>
              <a:t>Numerical instability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24912" y="4485131"/>
            <a:ext cx="39136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A badly scaled basis makes an absolute pivot tolerance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meaningless; the solver can return a confident wrong answer.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4485131"/>
            <a:ext cx="4821631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Automatic equilibration, shipped and measured. Independent verification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downgrades anything it cannot confirm to NUMERICAL_FAILURE.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5157216"/>
            <a:ext cx="11057839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21792" y="4832603"/>
            <a:ext cx="1993391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Arial"/>
              </a:rPr>
              <a:t>Search explosion on MILP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24912" y="4832603"/>
            <a:ext cx="39136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Branch and bound is exponential. On wide integer domains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runs out of nodes before it proves anything.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48272" y="4832603"/>
            <a:ext cx="4821631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Node and time limits, and a status that refuses to say OPTIMAL over a tree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we did not finish. Measured: 0.49% gap left after 5000 nodes, published.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5504688"/>
            <a:ext cx="11057839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21792" y="5180075"/>
            <a:ext cx="1993391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Arial"/>
              </a:rPr>
              <a:t>Scale — dense basis re-solve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24912" y="5180075"/>
            <a:ext cx="39136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Rebuilding and re-solving the basis every iteration is O(m³).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At 96 variables that is 1.67 s; industrial sizes will not finish.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5180075"/>
            <a:ext cx="4821631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Sparse LU with factorization updates is Stage 2, and the 98.6% profile says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it is the right target. No large-scale claim until it is measured.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6928" y="5852159"/>
            <a:ext cx="11057839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5527547"/>
            <a:ext cx="1993391" cy="1737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11111"/>
                </a:solidFill>
                <a:latin typeface="Arial"/>
              </a:rPr>
              <a:t>GPU overhead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24912" y="5527547"/>
            <a:ext cx="3913632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Small kernels lose more to host-device transfer than they gain.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A GPU port done for its own sake would be slower, not faster.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48272" y="5527547"/>
            <a:ext cx="4821631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Profile first, CPU sparse LU second, GPU only where a measurement justifies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A5F66"/>
                </a:solidFill>
                <a:latin typeface="Arial"/>
              </a:rPr>
              <a:t>it — and no GPU claim of any kind in the meantime.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5888736"/>
            <a:ext cx="2138415" cy="384048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5911596"/>
            <a:ext cx="1955535" cy="1741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FFFFF"/>
                </a:solidFill>
                <a:latin typeface="Arial"/>
              </a:rPr>
              <a:t>Stage 1 — Prototype core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6057900"/>
            <a:ext cx="1955535" cy="1602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D8DADD"/>
                </a:solidFill>
                <a:latin typeface="Arial"/>
              </a:rPr>
              <a:t>done: LP, MILP, presolve, verification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96783" y="5888736"/>
            <a:ext cx="213841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8223" y="5911596"/>
            <a:ext cx="1955535" cy="1741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11111"/>
                </a:solidFill>
                <a:latin typeface="Arial"/>
              </a:rPr>
              <a:t>Stage 2 — Numerical performance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8223" y="6057900"/>
            <a:ext cx="1955535" cy="1602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sparse LU, factorization updates, bounds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6639" y="5888736"/>
            <a:ext cx="213841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18079" y="5911596"/>
            <a:ext cx="1955535" cy="1741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11111"/>
                </a:solidFill>
                <a:latin typeface="Arial"/>
              </a:rPr>
              <a:t>Stage 3 — Optimization strength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18079" y="6057900"/>
            <a:ext cx="1955535" cy="1602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dual simplex, warm starts, cuts, branching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56495" y="5888736"/>
            <a:ext cx="213841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47935" y="5911596"/>
            <a:ext cx="1955535" cy="1741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11111"/>
                </a:solidFill>
                <a:latin typeface="Arial"/>
              </a:rPr>
              <a:t>Stage 4 — Acceleration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47935" y="6057900"/>
            <a:ext cx="1955535" cy="1602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parallel kernels; GPU where profiling justifies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86351" y="5888736"/>
            <a:ext cx="213841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77791" y="5911596"/>
            <a:ext cx="1955535" cy="1741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111111"/>
                </a:solidFill>
                <a:latin typeface="Arial"/>
              </a:rPr>
              <a:t>Stage 5 — External validation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77791" y="6057900"/>
            <a:ext cx="1955535" cy="1602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Netlib, MIPLIB, reference-solver comparison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66928" y="6364224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6928" y="6414516"/>
            <a:ext cx="457200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0976" y="6414516"/>
            <a:ext cx="804672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Stages carry no dates on purpose — each one is gated on a measured result, not a calendar.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84287" y="6414516"/>
            <a:ext cx="38404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Smart India Hackathon 2026  ·  PS 26119  ·  SANKHYA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7179"/>
            <a:ext cx="7772400" cy="426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38367" y="461772"/>
            <a:ext cx="548640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A8F96"/>
                </a:solidFill>
                <a:latin typeface="Arial"/>
              </a:rPr>
              <a:t>What changes when the solver core is ours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905256"/>
            <a:ext cx="1105783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66928" y="1042415"/>
            <a:ext cx="4892040" cy="1810512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1852"/>
            <a:ext cx="4617720" cy="2005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5A5F66"/>
                </a:solidFill>
                <a:latin typeface="Arial"/>
              </a:rPr>
              <a:t>Today — the core is foreign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1308"/>
            <a:ext cx="4599431" cy="9204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—   The solver core is foreign, commercial and closed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—   Licences renew for as long as the models are used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—   Internal algorithms cannot be inspected or changed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—   Numerical behaviour cannot be tuned when a model misbehaves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—   Sensitive industrial models are built inside external tooling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A5F66"/>
                </a:solidFill>
                <a:latin typeface="Arial"/>
              </a:rPr>
              <a:t>—   Domestic capability stops at the modelling 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50992" y="1947672"/>
            <a:ext cx="569671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208776" y="1862084"/>
            <a:ext cx="118872" cy="171175"/>
          </a:xfrm>
          <a:custGeom>
            <a:avLst/>
            <a:gdLst/>
            <a:ahLst/>
            <a:cxnLst/>
            <a:rect l="l" t="t" r="r" b="b"/>
            <a:pathLst>
              <a:path w="118872" h="171175">
                <a:moveTo>
                  <a:pt x="0" y="0"/>
                </a:moveTo>
                <a:lnTo>
                  <a:pt x="118872" y="85588"/>
                </a:lnTo>
                <a:lnTo>
                  <a:pt x="0" y="171175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042415"/>
            <a:ext cx="5175504" cy="1810512"/>
          </a:xfrm>
          <a:prstGeom prst="rect">
            <a:avLst/>
          </a:prstGeom>
          <a:solidFill>
            <a:srgbClr val="FFFFFF"/>
          </a:solidFill>
          <a:ln w="1397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1101852"/>
            <a:ext cx="4901184" cy="2005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11111"/>
                </a:solidFill>
                <a:latin typeface="Arial"/>
              </a:rPr>
              <a:t>With a sovereign solver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2824" y="1321308"/>
            <a:ext cx="4882896" cy="9204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Arial"/>
              </a:rPr>
              <a:t>—   The solver core is ours: simplex, branch and bound, basis solves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Arial"/>
              </a:rPr>
              <a:t>—   Runs locally and offline; no external optimization engine in the loop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Arial"/>
              </a:rPr>
              <a:t>—   Every algorithm is readable, testable and modifiable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Arial"/>
              </a:rPr>
              <a:t>—   The numerical layer can be changed for the models that need it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Arial"/>
              </a:rPr>
              <a:t>—   Models stay inside the organisation that owns them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Arial"/>
              </a:rPr>
              <a:t>—   One core serves refinery, power, logistics and 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12364"/>
            <a:ext cx="11057839" cy="17571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8A8F96"/>
                </a:solidFill>
                <a:latin typeface="Arial"/>
              </a:rPr>
              <a:t>No rupee saving and no percentage cost reduction appears anywhere on this slide, because neither has been measured. The benefit being claimed is control over the solver 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1548"/>
            <a:ext cx="557784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Why sovereign, specifically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93008"/>
            <a:ext cx="5532120" cy="219456"/>
          </a:xfrm>
          <a:prstGeom prst="rect">
            <a:avLst/>
          </a:prstGeom>
          <a:solidFill>
            <a:srgbClr val="E4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515868"/>
            <a:ext cx="205740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3515868"/>
            <a:ext cx="169164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Commercial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515868"/>
            <a:ext cx="17830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11111"/>
                </a:solidFill>
                <a:latin typeface="Arial"/>
              </a:rPr>
              <a:t>Our solver 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3968496"/>
            <a:ext cx="55321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3744468"/>
            <a:ext cx="196596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Solver internals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9192" y="3744468"/>
            <a:ext cx="160020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closed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744468"/>
            <a:ext cx="1691639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open, in this repository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4224528"/>
            <a:ext cx="55321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4000500"/>
            <a:ext cx="196596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Modifiability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9192" y="4000500"/>
            <a:ext cx="160020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not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4000500"/>
            <a:ext cx="1691639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any layer, including the pivot rule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4480559"/>
            <a:ext cx="55321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1792" y="4256531"/>
            <a:ext cx="196596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Deployment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9192" y="4256531"/>
            <a:ext cx="160020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vendor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4256531"/>
            <a:ext cx="1691639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local, offline, ours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4736592"/>
            <a:ext cx="55321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792" y="4512564"/>
            <a:ext cx="196596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Algorithm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9192" y="4512564"/>
            <a:ext cx="160020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documented behaviour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4512564"/>
            <a:ext cx="1691639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source, tests, measured results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4992624"/>
            <a:ext cx="55321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1792" y="4768596"/>
            <a:ext cx="196596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Model ownership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9192" y="4768596"/>
            <a:ext cx="160020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tied to vendor tooling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4768596"/>
            <a:ext cx="1691639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plain files, our own reader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5248656"/>
            <a:ext cx="5532120" cy="0"/>
          </a:xfrm>
          <a:prstGeom prst="line">
            <a:avLst/>
          </a:prstGeom>
          <a:ln w="762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5024628"/>
            <a:ext cx="196596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rial"/>
              </a:rPr>
              <a:t>Domestic extensibility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9192" y="5024628"/>
            <a:ext cx="1600200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5024628"/>
            <a:ext cx="1691639" cy="1710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Arial"/>
              </a:rPr>
              <a:t>the entire point of the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308092"/>
            <a:ext cx="5532120" cy="4270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8A8F96"/>
                </a:solidFill>
                <a:latin typeface="Arial"/>
              </a:rPr>
              <a:t>This is a claim about control and inspectability, not about speed. Commercial solvers are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8A8F96"/>
                </a:solidFill>
                <a:latin typeface="Arial"/>
              </a:rPr>
              <a:t>mature, fast and very well engineered — which is exactly why owning a core of our own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8A8F96"/>
                </a:solidFill>
                <a:latin typeface="Arial"/>
              </a:rPr>
              <a:t>matters, and why no performance comparison against them appears anywhere in this deck.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241548"/>
            <a:ext cx="5266944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Synthetic refinery case study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3547872"/>
            <a:ext cx="960120" cy="27432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598163"/>
            <a:ext cx="96012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11111"/>
                </a:solidFill>
                <a:latin typeface="Arial"/>
              </a:rPr>
              <a:t>Crude C1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15200" y="3685032"/>
            <a:ext cx="219456" cy="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355080" y="3913632"/>
            <a:ext cx="960120" cy="27432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963924"/>
            <a:ext cx="96012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11111"/>
                </a:solidFill>
                <a:latin typeface="Arial"/>
              </a:rPr>
              <a:t>Crude C2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15200" y="4050792"/>
            <a:ext cx="219456" cy="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355080" y="4279392"/>
            <a:ext cx="960120" cy="27432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329683"/>
            <a:ext cx="96012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11111"/>
                </a:solidFill>
                <a:latin typeface="Arial"/>
              </a:rPr>
              <a:t>Crude C3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315200" y="4416552"/>
            <a:ext cx="219456" cy="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34656" y="3685032"/>
            <a:ext cx="0" cy="73152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34656" y="4050791"/>
            <a:ext cx="145389" cy="0"/>
          </a:xfrm>
          <a:prstGeom prst="line">
            <a:avLst/>
          </a:prstGeom>
          <a:ln w="1143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7671816" y="3991538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3"/>
                </a:lnTo>
                <a:lnTo>
                  <a:pt x="0" y="118507"/>
                </a:lnTo>
                <a:close/>
              </a:path>
            </a:pathLst>
          </a:custGeom>
          <a:solidFill>
            <a:srgbClr val="5A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0" y="3712463"/>
            <a:ext cx="1298448" cy="694944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3826763"/>
            <a:ext cx="1298448" cy="3124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</a:rPr>
              <a:t>BLENDING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</a:rPr>
              <a:t>and yields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070848" y="4050791"/>
            <a:ext cx="127101" cy="0"/>
          </a:xfrm>
          <a:prstGeom prst="line">
            <a:avLst/>
          </a:prstGeom>
          <a:ln w="1143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9189720" y="3991538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3"/>
                </a:lnTo>
                <a:lnTo>
                  <a:pt x="0" y="118507"/>
                </a:lnTo>
                <a:close/>
              </a:path>
            </a:pathLst>
          </a:custGeom>
          <a:solidFill>
            <a:srgbClr val="5A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9272016" y="3685032"/>
            <a:ext cx="0" cy="73152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9509760" y="3547872"/>
            <a:ext cx="1005840" cy="27432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3598163"/>
            <a:ext cx="100584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11111"/>
                </a:solidFill>
                <a:latin typeface="Arial"/>
              </a:rPr>
              <a:t>Petrol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272016" y="3685032"/>
            <a:ext cx="237744" cy="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9509760" y="3913632"/>
            <a:ext cx="1005840" cy="27432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760" y="3963924"/>
            <a:ext cx="100584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11111"/>
                </a:solidFill>
                <a:latin typeface="Arial"/>
              </a:rPr>
              <a:t>Diesel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272016" y="4050792"/>
            <a:ext cx="237744" cy="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509760" y="4279392"/>
            <a:ext cx="1005840" cy="274320"/>
          </a:xfrm>
          <a:prstGeom prst="rect">
            <a:avLst/>
          </a:prstGeom>
          <a:solidFill>
            <a:srgbClr val="F2F3F5"/>
          </a:solidFill>
          <a:ln w="9525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60" y="4329683"/>
            <a:ext cx="100584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111111"/>
                </a:solidFill>
                <a:latin typeface="Arial"/>
              </a:rPr>
              <a:t>ATF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272016" y="4416552"/>
            <a:ext cx="237744" cy="0"/>
          </a:xfrm>
          <a:prstGeom prst="line">
            <a:avLst/>
          </a:prstGeom>
          <a:ln w="8890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355080" y="4686300"/>
            <a:ext cx="5266944" cy="4428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A5F66"/>
                </a:solidFill>
                <a:latin typeface="Arial"/>
              </a:rPr>
              <a:t>Constraints:  crude availability · plant capacity · product demand range ·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A5F66"/>
                </a:solidFill>
                <a:latin typeface="Arial"/>
              </a:rPr>
              <a:t>sulfur quality limit · material balance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A5F66"/>
                </a:solidFill>
                <a:latin typeface="Arial"/>
              </a:rPr>
              <a:t>Objective:  minimise blending cost, equivalently maximise margin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175504"/>
            <a:ext cx="5266944" cy="65836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83096" y="5216652"/>
            <a:ext cx="5010912" cy="4471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Arial"/>
              </a:rPr>
              <a:t>Largest instance solved: 96 variables, 37 constraints — OPTIMAL in 1.6652 s,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Arial"/>
              </a:rPr>
              <a:t>674 simplex iterations, independently verified. Integer batch variant: OPTIMAL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Arial"/>
              </a:rPr>
              <a:t>in 15 branch-and-bound nodes with a 0.0000% gap, in 0.0378 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5080" y="5893308"/>
            <a:ext cx="526694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A8F96"/>
                </a:solidFill>
                <a:latin typeface="Arial"/>
              </a:rPr>
              <a:t>Synthetic case study. The structure is realistic — crudes, yields, quality limits, demand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A8F96"/>
                </a:solidFill>
                <a:latin typeface="Arial"/>
              </a:rPr>
              <a:t>ranges — but the data is generated by industrial/refinery.py. No real plant's proprietary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A8F96"/>
                </a:solidFill>
                <a:latin typeface="Arial"/>
              </a:rPr>
              <a:t>model was used or solved.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66928" y="6364224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66928" y="6414516"/>
            <a:ext cx="457200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" y="6414516"/>
            <a:ext cx="804672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The claim is control over the solver core, not a cost number we have not measured.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84287" y="6414516"/>
            <a:ext cx="38404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Smart India Hackathon 2026  ·  PS 26119  ·  SANKHYA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7179"/>
            <a:ext cx="7772400" cy="426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38367" y="461772"/>
            <a:ext cx="548640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A8F96"/>
                </a:solidFill>
                <a:latin typeface="Arial"/>
              </a:rPr>
              <a:t>Every source below was checked before it was listed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905256"/>
            <a:ext cx="1105783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55548"/>
            <a:ext cx="6400800" cy="202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Arial"/>
              </a:rPr>
              <a:t>The methods we implemented, and where they come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5004"/>
            <a:ext cx="6446520" cy="41229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Dantzig, G. B. — Linear Programming and Extensions. Princeton University Press, 1963.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Implemented: the simplex method, in its revised two-phase form.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Bland, R. G. — New finite pivoting rules for the simplex method. Mathematics of Operations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Research 2(2), 1977.   Implemented: the anti-cycling pivot rule used in both phases.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Land, A. H. and Doig, A. G. — An automatic method of solving discrete programming problems.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Econometrica 28(3), 1960.   Implemented: branch and bound over our own LP relaxations.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Curtis, A. R. and Reid, J. K. — On the automatic scaling of matrices for Gaussian elimination.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IMA Journal of Applied Mathematics 10(1), 118–124, 1972.   Implemented: row and column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equilibration, with power-of-two factors so scaling introduces no error of its own.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Bartels, R. H. and Golub, G. H. — The simplex method of linear programming using LU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decomposition. Communications of the ACM 12(5), 1969.   Stage 2. Not yet built.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Forrest, J. J. H. and Tomlin, J. A. — Updated triangular factors of the basis to maintain sparsity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in the product form simplex method. Mathematical Programming 2, 1972.   Stage 2, not yet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built: these are the factorization updates that would remove our measured 98.6% hot path.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Applegate, D., Díaz, M., Hinder, O., Lu, H., Lubin, M., O'Donoghue, B. and Schudy, W.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Practical Large-Scale Linear Programming using Primal-Dual Hybrid Gradient. NeurIPS 2021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(arXiv:2106.04756).   Why large LPs parallelise through first-order methods.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Lu, H., Yang, J., Hu, H., Huangfu, Q., Liu, J., Liu, T., Ye, Y., Zhang, C. and Ge, D. — cuPDLP-C: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A Strengthened Implementation of cuPDLP for Linear Programming by C language.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arXiv:2312.14832, 2023.   Evidence that GPU linear programming works through first-order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methods rather than a GPU simplex — which is why our GPU stage targets kernels, not pivots.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Stage 5 validation targets: Netlib LP (netlib.org/lp), MIPLIB 2017 (miplib.zib.de), Mittelmann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benchmarks (plato.asu.edu/bench.html). None has been run: this build environment has no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5A5F66"/>
                </a:solidFill>
                <a:latin typeface="Arial"/>
              </a:rPr>
              <a:t>general internet access, so nothing in the repository is labelled as Netlib or MIPLIB data.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5468112"/>
            <a:ext cx="6446520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5527548"/>
            <a:ext cx="6446520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ial"/>
              </a:rPr>
              <a:t>What a judge can run, in this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10428"/>
            <a:ext cx="6446520" cy="809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./run_demo.sh — tests, an LP solve, an MILP solve, the full 15-instance benchmark, the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scaling A/B and the plots, in one command.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python3 scripts/verify_known_optima.py — re-derives every declared optimum in exact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rational arithmetic, with no simplex involved.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python3 scripts/profile_hotspots.py — reproduces the 98.6% measurement that this deck's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A5F66"/>
                </a:solidFill>
                <a:latin typeface="Arial"/>
              </a:rPr>
              <a:t>acceleration plan rests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207008"/>
            <a:ext cx="4398264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595628"/>
            <a:ext cx="3849624" cy="809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A sovereign optimization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engine, built from the</a:t>
            </a: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mathematical core upward.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2578608"/>
            <a:ext cx="1563624" cy="0"/>
          </a:xfrm>
          <a:prstGeom prst="line">
            <a:avLst/>
          </a:prstGeom>
          <a:ln w="1016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6640" y="2711196"/>
            <a:ext cx="4032503" cy="209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F66"/>
                </a:solidFill>
                <a:latin typeface="Arial"/>
              </a:rPr>
              <a:t>Model   →   Solve   →   Accelerate   →  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113532"/>
            <a:ext cx="4032503" cy="28727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ial"/>
              </a:rPr>
              <a:t>LP      ·      MILP      ·      QP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424427"/>
            <a:ext cx="4032503" cy="3058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LP and MILP are implemented and validated.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QP is the next layer, and is not built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826763"/>
            <a:ext cx="4032503" cy="1974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11111"/>
                </a:solidFill>
                <a:latin typeface="Arial"/>
              </a:rPr>
              <a:t>Open architecture  ·  Local control  ·  Inspectable algorithms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466844"/>
            <a:ext cx="4398264" cy="3647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SANKHYA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796028"/>
            <a:ext cx="4398264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Sovereign Algorithmic Numerical Kernel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5015483"/>
            <a:ext cx="4398264" cy="1788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8F96"/>
                </a:solidFill>
                <a:latin typeface="Arial"/>
              </a:rPr>
              <a:t>Smart India Hackathon 2026  ·  Problem Statement 26119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364224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414516"/>
            <a:ext cx="457200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6414516"/>
            <a:ext cx="804672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Every source here was checked, and everything not yet done is listed as not yet done.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4287" y="6414516"/>
            <a:ext cx="38404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Smart India Hackathon 2026  ·  PS 26119  ·  SANKHYA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7179"/>
            <a:ext cx="7772400" cy="426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TARK | Technical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38367" y="461772"/>
            <a:ext cx="548640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A8F96"/>
                </a:solidFill>
                <a:latin typeface="Arial"/>
              </a:rPr>
              <a:t>Indigenous Optimization Solver  ·  SIH 2026  ·  PS 26119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905256"/>
            <a:ext cx="1105783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92124"/>
            <a:ext cx="4114800" cy="1912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F5D8C"/>
                </a:solidFill>
                <a:latin typeface="Arial"/>
              </a:rPr>
              <a:t>MAIN SOLVE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0047" y="992124"/>
            <a:ext cx="347472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from model to an independently checked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07592"/>
            <a:ext cx="1417320" cy="804672"/>
          </a:xfrm>
          <a:prstGeom prst="roundRect">
            <a:avLst/>
          </a:prstGeom>
          <a:solidFill>
            <a:srgbClr val="F2F3F5"/>
          </a:solidFill>
          <a:ln w="1397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5316"/>
            <a:ext cx="1234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5D8C"/>
                </a:solidFill>
                <a:latin typeface="Arial"/>
              </a:rPr>
              <a:t>Industrial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5D8C"/>
                </a:solidFill>
                <a:latin typeface="Arial"/>
              </a:rPr>
              <a:t>Optimization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32204"/>
            <a:ext cx="1234440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LP / MILP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307592"/>
            <a:ext cx="1444752" cy="804672"/>
          </a:xfrm>
          <a:prstGeom prst="roundRect">
            <a:avLst/>
          </a:prstGeom>
          <a:solidFill>
            <a:srgbClr val="F2F3F5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385316"/>
            <a:ext cx="1261872" cy="282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Model Parser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86484"/>
            <a:ext cx="1261872" cy="262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MPS / structured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model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1608" y="1307592"/>
            <a:ext cx="1444752" cy="804672"/>
          </a:xfrm>
          <a:prstGeom prst="roundRect">
            <a:avLst/>
          </a:prstGeom>
          <a:solidFill>
            <a:srgbClr val="F2F3F5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1385316"/>
            <a:ext cx="1261872" cy="168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Presolve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1586484"/>
            <a:ext cx="1261872" cy="262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Remove redundant constraints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Tighten bounds · simplify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0096" y="1307592"/>
            <a:ext cx="1444752" cy="804672"/>
          </a:xfrm>
          <a:prstGeom prst="roundRect">
            <a:avLst/>
          </a:prstGeom>
          <a:solidFill>
            <a:srgbClr val="F2F3F5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1385316"/>
            <a:ext cx="1261872" cy="282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Numerical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rial"/>
              </a:rPr>
              <a:t>Conditioning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1586484"/>
            <a:ext cx="1261872" cy="262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Automatic matrix equilibration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Detect ill-conditioning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8584" y="1307592"/>
            <a:ext cx="1938528" cy="804672"/>
          </a:xfrm>
          <a:prstGeom prst="roundRect">
            <a:avLst/>
          </a:prstGeom>
          <a:solidFill>
            <a:srgbClr val="E8F0F7"/>
          </a:solidFill>
          <a:ln w="1397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1385316"/>
            <a:ext cx="175564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5D8C"/>
                </a:solidFill>
                <a:latin typeface="Arial"/>
              </a:rPr>
              <a:t>LP Solver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1632204"/>
            <a:ext cx="1755648" cy="3657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Two-Phase Revised Simplex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Basis management · pivot selection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Numerical linear algebra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84248" y="1709928"/>
            <a:ext cx="44805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2020824" y="1650674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4"/>
                </a:lnTo>
                <a:lnTo>
                  <a:pt x="0" y="118507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547872" y="1709928"/>
            <a:ext cx="99669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3639312" y="1650674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4"/>
                </a:lnTo>
                <a:lnTo>
                  <a:pt x="0" y="118507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166360" y="1709928"/>
            <a:ext cx="99669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57800" y="1650674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4"/>
                </a:lnTo>
                <a:lnTo>
                  <a:pt x="0" y="118507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784848" y="1709928"/>
            <a:ext cx="99669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876288" y="1650674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4"/>
                </a:lnTo>
                <a:lnTo>
                  <a:pt x="0" y="118507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927848" y="2112264"/>
            <a:ext cx="0" cy="146304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27848" y="2258568"/>
            <a:ext cx="0" cy="283464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886700" y="2217420"/>
            <a:ext cx="82296" cy="82296"/>
          </a:xfrm>
          <a:prstGeom prst="ellipse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4" y="1961388"/>
            <a:ext cx="914400" cy="1602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F5D8C"/>
                </a:solidFill>
                <a:latin typeface="Arial"/>
              </a:rPr>
              <a:t>MILP path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59168" y="2542032"/>
            <a:ext cx="1627632" cy="694944"/>
          </a:xfrm>
          <a:prstGeom prst="roundRect">
            <a:avLst/>
          </a:prstGeom>
          <a:solidFill>
            <a:srgbClr val="F2F3F5"/>
          </a:solidFill>
          <a:ln w="1016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50607" y="2619756"/>
            <a:ext cx="1444752" cy="168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F5D8C"/>
                </a:solidFill>
                <a:latin typeface="Arial"/>
              </a:rPr>
              <a:t>LP Relaxation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0607" y="2820923"/>
            <a:ext cx="1444752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continuous bound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7696" y="2542032"/>
            <a:ext cx="1627632" cy="694944"/>
          </a:xfrm>
          <a:prstGeom prst="roundRect">
            <a:avLst/>
          </a:prstGeom>
          <a:solidFill>
            <a:srgbClr val="E8F0F7"/>
          </a:solidFill>
          <a:ln w="1397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89136" y="2619756"/>
            <a:ext cx="144475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5D8C"/>
                </a:solidFill>
                <a:latin typeface="Arial"/>
              </a:rPr>
              <a:t>Branch &amp; Bound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2866644"/>
            <a:ext cx="1444752" cy="262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Node selection · branching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Bounds · incumbent update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36224" y="2542032"/>
            <a:ext cx="685800" cy="694944"/>
          </a:xfrm>
          <a:prstGeom prst="roundRect">
            <a:avLst/>
          </a:prstGeom>
          <a:solidFill>
            <a:srgbClr val="F2F3F5"/>
          </a:solidFill>
          <a:ln w="1016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27664" y="2619756"/>
            <a:ext cx="502920" cy="2824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F5D8C"/>
                </a:solidFill>
                <a:latin typeface="Arial"/>
              </a:rPr>
              <a:t>Optimality /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F5D8C"/>
                </a:solidFill>
                <a:latin typeface="Arial"/>
              </a:rPr>
              <a:t>Termination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27664" y="2820923"/>
            <a:ext cx="502920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proof or limit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86800" y="2889504"/>
            <a:ext cx="236829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8915400" y="2830250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4"/>
                </a:lnTo>
                <a:lnTo>
                  <a:pt x="0" y="118507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625328" y="2889504"/>
            <a:ext cx="236829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10853928" y="2830250"/>
            <a:ext cx="82296" cy="118507"/>
          </a:xfrm>
          <a:custGeom>
            <a:avLst/>
            <a:gdLst/>
            <a:ahLst/>
            <a:cxnLst/>
            <a:rect l="l" t="t" r="r" b="b"/>
            <a:pathLst>
              <a:path w="82296" h="118507">
                <a:moveTo>
                  <a:pt x="0" y="0"/>
                </a:moveTo>
                <a:lnTo>
                  <a:pt x="82296" y="59254"/>
                </a:lnTo>
                <a:lnTo>
                  <a:pt x="0" y="118507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8897112" y="1709928"/>
            <a:ext cx="0" cy="557784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897112" y="2267712"/>
            <a:ext cx="2377440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274552" y="2267712"/>
            <a:ext cx="0" cy="27432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1192256" y="2212848"/>
            <a:ext cx="82296" cy="109728"/>
          </a:xfrm>
          <a:custGeom>
            <a:avLst/>
            <a:gdLst/>
            <a:ahLst/>
            <a:cxnLst/>
            <a:rect l="l" t="t" r="r" b="b"/>
            <a:pathLst>
              <a:path w="82296" h="109728">
                <a:moveTo>
                  <a:pt x="82296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1997964"/>
            <a:ext cx="1828800" cy="1602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F5D8C"/>
                </a:solidFill>
                <a:latin typeface="Arial"/>
              </a:rPr>
              <a:t>LP path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274552" y="3236976"/>
            <a:ext cx="0" cy="466344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89520" y="3767328"/>
            <a:ext cx="2761488" cy="713232"/>
          </a:xfrm>
          <a:prstGeom prst="roundRect">
            <a:avLst/>
          </a:prstGeom>
          <a:solidFill>
            <a:srgbClr val="E8F0F7"/>
          </a:solidFill>
          <a:ln w="1397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3845052"/>
            <a:ext cx="2578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F5D8C"/>
                </a:solidFill>
                <a:latin typeface="Arial"/>
              </a:rPr>
              <a:t>Independent Verification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091939"/>
            <a:ext cx="2578608" cy="262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Feasibility · constraints · objective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A5F66"/>
                </a:solidFill>
                <a:latin typeface="Arial"/>
              </a:rPr>
              <a:t>Integer feasibility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10351008" y="3703320"/>
            <a:ext cx="923544" cy="0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0259568" y="3639312"/>
            <a:ext cx="91440" cy="128016"/>
          </a:xfrm>
          <a:custGeom>
            <a:avLst/>
            <a:gdLst/>
            <a:ahLst/>
            <a:cxnLst/>
            <a:rect l="l" t="t" r="r" b="b"/>
            <a:pathLst>
              <a:path w="91440" h="128016">
                <a:moveTo>
                  <a:pt x="91440" y="64008"/>
                </a:moveTo>
                <a:lnTo>
                  <a:pt x="0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589520" y="4700016"/>
            <a:ext cx="2761488" cy="621792"/>
          </a:xfrm>
          <a:prstGeom prst="roundRect">
            <a:avLst/>
          </a:prstGeom>
          <a:solidFill>
            <a:srgbClr val="2F5D8C"/>
          </a:solidFill>
          <a:ln w="13970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0" y="4777740"/>
            <a:ext cx="2578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Verified Solution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5024627"/>
            <a:ext cx="2578608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Arial"/>
              </a:rPr>
              <a:t>Optimal  ·  Infeasible  ·  Limit Reached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70264" y="4480560"/>
            <a:ext cx="0" cy="219456"/>
          </a:xfrm>
          <a:prstGeom prst="line">
            <a:avLst/>
          </a:prstGeom>
          <a:ln w="127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8897112" y="4599432"/>
            <a:ext cx="146304" cy="100584"/>
          </a:xfrm>
          <a:custGeom>
            <a:avLst/>
            <a:gdLst/>
            <a:ahLst/>
            <a:cxnLst/>
            <a:rect l="l" t="t" r="r" b="b"/>
            <a:pathLst>
              <a:path w="146304" h="100584">
                <a:moveTo>
                  <a:pt x="73152" y="100584"/>
                </a:moveTo>
                <a:lnTo>
                  <a:pt x="0" y="0"/>
                </a:lnTo>
                <a:lnTo>
                  <a:pt x="146304" y="0"/>
                </a:lnTo>
                <a:close/>
              </a:path>
            </a:pathLst>
          </a:cu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566928" y="5486400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928" y="5573268"/>
            <a:ext cx="2560320" cy="1912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5A5F66"/>
                </a:solidFill>
                <a:latin typeface="Arial"/>
              </a:rPr>
              <a:t>DEVELOPMENT ROADMAP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5573268"/>
            <a:ext cx="56692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Performance &amp; Future Acceleration  ·  not currently implemented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5833872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8F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" y="5911596"/>
            <a:ext cx="1325880" cy="168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5F66"/>
                </a:solidFill>
                <a:latin typeface="Arial"/>
              </a:rPr>
              <a:t>Profiling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6112764"/>
            <a:ext cx="1325880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8A8F96"/>
                </a:solidFill>
                <a:latin typeface="Arial"/>
              </a:rPr>
              <a:t>identify bottlenecks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075688" y="6035040"/>
            <a:ext cx="198424" cy="0"/>
          </a:xfrm>
          <a:prstGeom prst="line">
            <a:avLst/>
          </a:prstGeom>
          <a:ln w="10160">
            <a:solidFill>
              <a:srgbClr val="8A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7712" y="5988954"/>
            <a:ext cx="64008" cy="92171"/>
          </a:xfrm>
          <a:custGeom>
            <a:avLst/>
            <a:gdLst/>
            <a:ahLst/>
            <a:cxnLst/>
            <a:rect l="l" t="t" r="r" b="b"/>
            <a:pathLst>
              <a:path w="64008" h="92171">
                <a:moveTo>
                  <a:pt x="0" y="0"/>
                </a:moveTo>
                <a:lnTo>
                  <a:pt x="64008" y="46086"/>
                </a:lnTo>
                <a:lnTo>
                  <a:pt x="0" y="9217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331720" y="5833872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8F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23160" y="5911596"/>
            <a:ext cx="1325880" cy="168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5F66"/>
                </a:solidFill>
                <a:latin typeface="Arial"/>
              </a:rPr>
              <a:t>Sparse Linear Algebra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23160" y="6112764"/>
            <a:ext cx="1325880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8A8F96"/>
                </a:solidFill>
                <a:latin typeface="Arial"/>
              </a:rPr>
              <a:t>factorization + basis updates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840479" y="6035040"/>
            <a:ext cx="628193" cy="0"/>
          </a:xfrm>
          <a:prstGeom prst="line">
            <a:avLst/>
          </a:prstGeom>
          <a:ln w="10160">
            <a:solidFill>
              <a:srgbClr val="8A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4462272" y="5988954"/>
            <a:ext cx="64008" cy="92171"/>
          </a:xfrm>
          <a:custGeom>
            <a:avLst/>
            <a:gdLst/>
            <a:ahLst/>
            <a:cxnLst/>
            <a:rect l="l" t="t" r="r" b="b"/>
            <a:pathLst>
              <a:path w="64008" h="92171">
                <a:moveTo>
                  <a:pt x="0" y="0"/>
                </a:moveTo>
                <a:lnTo>
                  <a:pt x="64008" y="46086"/>
                </a:lnTo>
                <a:lnTo>
                  <a:pt x="0" y="9217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526280" y="5833872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8F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5911596"/>
            <a:ext cx="1325880" cy="168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5F66"/>
                </a:solidFill>
                <a:latin typeface="Arial"/>
              </a:rPr>
              <a:t>Parallel Computation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17720" y="6112764"/>
            <a:ext cx="1325880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8A8F96"/>
                </a:solidFill>
                <a:latin typeface="Arial"/>
              </a:rPr>
              <a:t>multi-core execution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035040" y="6035040"/>
            <a:ext cx="628192" cy="0"/>
          </a:xfrm>
          <a:prstGeom prst="line">
            <a:avLst/>
          </a:prstGeom>
          <a:ln w="10160">
            <a:solidFill>
              <a:srgbClr val="8A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6656831" y="5988954"/>
            <a:ext cx="64009" cy="92171"/>
          </a:xfrm>
          <a:custGeom>
            <a:avLst/>
            <a:gdLst/>
            <a:ahLst/>
            <a:cxnLst/>
            <a:rect l="l" t="t" r="r" b="b"/>
            <a:pathLst>
              <a:path w="64009" h="92171">
                <a:moveTo>
                  <a:pt x="0" y="0"/>
                </a:moveTo>
                <a:lnTo>
                  <a:pt x="64009" y="46086"/>
                </a:lnTo>
                <a:lnTo>
                  <a:pt x="0" y="92171"/>
                </a:lnTo>
                <a:close/>
              </a:path>
            </a:pathLst>
          </a:custGeom>
          <a:solidFill>
            <a:srgbClr val="8A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720840" y="5833872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A8F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12279" y="5911596"/>
            <a:ext cx="1325880" cy="168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A5F66"/>
                </a:solidFill>
                <a:latin typeface="Arial"/>
              </a:rPr>
              <a:t>GPU Acceleration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12279" y="6112764"/>
            <a:ext cx="1325880" cy="15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8A8F96"/>
                </a:solidFill>
                <a:latin typeface="Arial"/>
              </a:rPr>
              <a:t>CUDA kernels for suitable workloads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66928" y="6364224"/>
            <a:ext cx="11057839" cy="0"/>
          </a:xfrm>
          <a:prstGeom prst="line">
            <a:avLst/>
          </a:prstGeom>
          <a:ln w="889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66928" y="6414516"/>
            <a:ext cx="457200" cy="185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07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0976" y="6414516"/>
            <a:ext cx="8046720" cy="1819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A5F66"/>
                </a:solidFill>
                <a:latin typeface="Arial"/>
              </a:rPr>
              <a:t>TARK develops the optimization engine itself: parse, solve, branch, verify.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84287" y="6414516"/>
            <a:ext cx="3840480" cy="172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8F96"/>
                </a:solidFill>
                <a:latin typeface="Arial"/>
              </a:rPr>
              <a:t>Smart India Hackathon 2026  ·  PS 26119  ·  SANKHYA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