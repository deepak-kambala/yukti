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7680960" y="1234440"/>
            <a:ext cx="2377440" cy="2044598"/>
          </a:xfrm>
          <a:prstGeom prst="hexagon">
            <a:avLst/>
          </a:prstGeom>
          <a:solidFill>
            <a:srgbClr val="EEF1F5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6583680" y="4389120"/>
            <a:ext cx="914400" cy="786384"/>
          </a:xfrm>
          <a:prstGeom prst="hexagon">
            <a:avLst/>
          </a:prstGeom>
          <a:solidFill>
            <a:srgbClr val="EEF1F5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9601200" y="4206240"/>
            <a:ext cx="1463040" cy="1258214"/>
          </a:xfrm>
          <a:prstGeom prst="hexagon">
            <a:avLst/>
          </a:prstGeom>
          <a:solidFill>
            <a:srgbClr val="EEF1F5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"/>
            <a:ext cx="804672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3400" b="1">
                <a:solidFill>
                  <a:srgbClr val="1F497D"/>
                </a:solidFill>
                <a:latin typeface="Georgia"/>
              </a:rPr>
              <a:t>SMART INDIA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097280"/>
            <a:ext cx="3566160" cy="4754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TITLE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783080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500" b="1">
                <a:solidFill>
                  <a:srgbClr val="FF6E1F"/>
                </a:solidFill>
                <a:latin typeface="Arial"/>
              </a:rPr>
              <a:t>Indigenous GPU-Accelerated Optimization Solver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97840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48C41"/>
                </a:solidFill>
                <a:latin typeface="Arial"/>
              </a:rPr>
              <a:t>A verified from-scratch LP/MILP prototype today; a GPU/C++17 industrial solver roadmap next.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61488"/>
            <a:ext cx="21945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07208"/>
            <a:ext cx="409651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Arial"/>
              </a:rPr>
              <a:t>Problem Statement ID 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07208"/>
            <a:ext cx="69494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000" b="1">
                <a:solidFill>
                  <a:srgbClr val="1F497D"/>
                </a:solidFill>
                <a:latin typeface="Arial"/>
              </a:rPr>
              <a:t>SIH26119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19856"/>
            <a:ext cx="21945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3465576"/>
            <a:ext cx="409651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Arial"/>
              </a:rPr>
              <a:t>Problem Statement Title 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465576"/>
            <a:ext cx="69494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800" b="1">
                <a:solidFill>
                  <a:srgbClr val="1F497D"/>
                </a:solidFill>
                <a:latin typeface="Arial"/>
              </a:rPr>
              <a:t>Indigenous GPU-Accelerated Optimization Solver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78224"/>
            <a:ext cx="21945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123944"/>
            <a:ext cx="409651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Arial"/>
              </a:rPr>
              <a:t>Theme -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123944"/>
            <a:ext cx="69494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000" b="1">
                <a:solidFill>
                  <a:srgbClr val="1F497D"/>
                </a:solidFill>
                <a:latin typeface="Arial"/>
              </a:rPr>
              <a:t>Smart 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36592"/>
            <a:ext cx="21945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782312"/>
            <a:ext cx="409651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Arial"/>
              </a:rPr>
              <a:t>PS Category 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782312"/>
            <a:ext cx="69494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000" b="1">
                <a:solidFill>
                  <a:srgbClr val="1F497D"/>
                </a:solidFill>
                <a:latin typeface="Arial"/>
              </a:rPr>
              <a:t>Software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94960"/>
            <a:ext cx="21945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5440680"/>
            <a:ext cx="409651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Arial"/>
              </a:rPr>
              <a:t>Prototype -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440680"/>
            <a:ext cx="69494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000" b="1">
                <a:solidFill>
                  <a:srgbClr val="1F497D"/>
                </a:solidFill>
                <a:latin typeface="Arial"/>
              </a:rPr>
              <a:t>Sovereign Optimization Engine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46920" y="5605272"/>
            <a:ext cx="786384" cy="566928"/>
          </a:xfrm>
          <a:prstGeom prst="rect">
            <a:avLst/>
          </a:prstGeom>
          <a:solidFill>
            <a:srgbClr val="FF6E1F"/>
          </a:solidFill>
          <a:ln w="12700">
            <a:solidFill>
              <a:srgbClr val="FF6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433304" y="5605272"/>
            <a:ext cx="786384" cy="566928"/>
          </a:xfrm>
          <a:prstGeom prst="rect">
            <a:avLst/>
          </a:prstGeom>
          <a:solidFill>
            <a:srgbClr val="00689D"/>
          </a:solidFill>
          <a:ln w="12700">
            <a:solidFill>
              <a:srgbClr val="006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219688" y="5605272"/>
            <a:ext cx="786384" cy="566928"/>
          </a:xfrm>
          <a:prstGeom prst="rect">
            <a:avLst/>
          </a:prstGeom>
          <a:solidFill>
            <a:srgbClr val="BF8B2E"/>
          </a:solidFill>
          <a:ln w="12700">
            <a:solidFill>
              <a:srgbClr val="BF8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0928" y="5696712"/>
            <a:ext cx="32918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88168" y="5696712"/>
            <a:ext cx="384048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74552" y="5696712"/>
            <a:ext cx="384048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7680960" y="1234440"/>
            <a:ext cx="2377440" cy="2044598"/>
          </a:xfrm>
          <a:prstGeom prst="hexagon">
            <a:avLst/>
          </a:prstGeom>
          <a:solidFill>
            <a:srgbClr val="EEF1F5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6583680" y="4389120"/>
            <a:ext cx="914400" cy="786384"/>
          </a:xfrm>
          <a:prstGeom prst="hexagon">
            <a:avLst/>
          </a:prstGeom>
          <a:solidFill>
            <a:srgbClr val="EEF1F5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9601200" y="4206240"/>
            <a:ext cx="1463040" cy="1258214"/>
          </a:xfrm>
          <a:prstGeom prst="hexagon">
            <a:avLst/>
          </a:prstGeom>
          <a:solidFill>
            <a:srgbClr val="EEF1F5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76809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900" b="1">
                <a:solidFill>
                  <a:srgbClr val="1F497D"/>
                </a:solidFill>
                <a:latin typeface="Georgia"/>
              </a:rPr>
              <a:t>SMART INDIA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201168"/>
            <a:ext cx="1965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400" b="1">
                <a:solidFill>
                  <a:srgbClr val="1F497D"/>
                </a:solidFill>
                <a:latin typeface="Arial"/>
              </a:rPr>
              <a:t>PS SIH26119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49808"/>
            <a:ext cx="108813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Georgia"/>
              </a:rPr>
              <a:t>PROPOSED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261872"/>
            <a:ext cx="10835640" cy="32004"/>
          </a:xfrm>
          <a:prstGeom prst="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6355080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697480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600200"/>
            <a:ext cx="38404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Arial"/>
              </a:rPr>
              <a:t>Sovereign Optimization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29968"/>
            <a:ext cx="40690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0">
                <a:solidFill>
                  <a:srgbClr val="2E3440"/>
                </a:solidFill>
                <a:latin typeface="Arial"/>
              </a:rPr>
              <a:t>A transparent solver core for Indian industrial LP/MILP workloads, built without external optimization-solver libraries.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572768"/>
            <a:ext cx="1170432" cy="1024128"/>
          </a:xfrm>
          <a:prstGeom prst="roundRect">
            <a:avLst/>
          </a:prstGeom>
          <a:solidFill>
            <a:srgbClr val="E4EEFA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8112" y="1700784"/>
            <a:ext cx="8412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Arial"/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8112" y="2048256"/>
            <a:ext cx="84124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Variables</a:t>
            </a:r>
            <a:br/>
            <a:r>
              <a:t>constraints</a:t>
            </a:r>
            <a:br/>
            <a:r>
              <a:t>objective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73952" y="2084832"/>
            <a:ext cx="274320" cy="0"/>
          </a:xfrm>
          <a:prstGeom prst="line">
            <a:avLst/>
          </a:prstGeom>
          <a:ln w="25400">
            <a:solidFill>
              <a:srgbClr val="FF6E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39712" y="1572768"/>
            <a:ext cx="1170432" cy="1024128"/>
          </a:xfrm>
          <a:prstGeom prst="roundRect">
            <a:avLst/>
          </a:prstGeom>
          <a:solidFill>
            <a:srgbClr val="E8F5ED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4304" y="1700784"/>
            <a:ext cx="8412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Arial"/>
              </a:rPr>
              <a:t>Presolve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048256"/>
            <a:ext cx="84124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Fixed vars</a:t>
            </a:r>
            <a:br/>
            <a:r>
              <a:t>empty rows</a:t>
            </a:r>
            <a:br/>
            <a:r>
              <a:t>singleton bounds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10144" y="2084832"/>
            <a:ext cx="274320" cy="0"/>
          </a:xfrm>
          <a:prstGeom prst="line">
            <a:avLst/>
          </a:prstGeom>
          <a:ln w="25400">
            <a:solidFill>
              <a:srgbClr val="FF6E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375904" y="1572768"/>
            <a:ext cx="1170432" cy="1024128"/>
          </a:xfrm>
          <a:prstGeom prst="roundRect">
            <a:avLst/>
          </a:prstGeom>
          <a:solidFill>
            <a:srgbClr val="FFEFE5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0496" y="1700784"/>
            <a:ext cx="8412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Arial"/>
              </a:rPr>
              <a:t>LP 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0496" y="2048256"/>
            <a:ext cx="84124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Two-phase</a:t>
            </a:r>
            <a:br/>
            <a:r>
              <a:t>revised simplex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46336" y="2084832"/>
            <a:ext cx="274320" cy="0"/>
          </a:xfrm>
          <a:prstGeom prst="line">
            <a:avLst/>
          </a:prstGeom>
          <a:ln w="25400">
            <a:solidFill>
              <a:srgbClr val="FF6E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912096" y="1572768"/>
            <a:ext cx="1170432" cy="1024128"/>
          </a:xfrm>
          <a:prstGeom prst="roundRect">
            <a:avLst/>
          </a:prstGeom>
          <a:solidFill>
            <a:srgbClr val="E4EEFA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76688" y="1700784"/>
            <a:ext cx="8412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Arial"/>
              </a:rPr>
              <a:t>MILP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6688" y="2048256"/>
            <a:ext cx="84124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Branch-and-</a:t>
            </a:r>
            <a:br/>
            <a:r>
              <a:t>bound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082528" y="2084832"/>
            <a:ext cx="274320" cy="0"/>
          </a:xfrm>
          <a:prstGeom prst="line">
            <a:avLst/>
          </a:prstGeom>
          <a:ln w="25400">
            <a:solidFill>
              <a:srgbClr val="FF6E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1448288" y="1572768"/>
            <a:ext cx="1170432" cy="1024128"/>
          </a:xfrm>
          <a:prstGeom prst="roundRect">
            <a:avLst/>
          </a:prstGeom>
          <a:solidFill>
            <a:srgbClr val="E8F5ED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612880" y="1700784"/>
            <a:ext cx="8412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Arial"/>
              </a:rPr>
              <a:t>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0" y="2048256"/>
            <a:ext cx="84124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Independent</a:t>
            </a:r>
            <a:br/>
            <a:r>
              <a:t>re-check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273552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>
                <a:solidFill>
                  <a:srgbClr val="148C41"/>
                </a:solidFill>
                <a:latin typeface="Arial"/>
              </a:rPr>
              <a:t>VALIDATED NOW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273552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>
                <a:solidFill>
                  <a:srgbClr val="FF6E1F"/>
                </a:solidFill>
                <a:latin typeface="Arial"/>
              </a:rPr>
              <a:t>BUILD NEXT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3675887"/>
            <a:ext cx="49834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E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3803903"/>
            <a:ext cx="465429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48C41"/>
                </a:solidFill>
                <a:latin typeface="Arial"/>
              </a:rPr>
              <a:t>LP/MILP core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151375"/>
            <a:ext cx="4654296" cy="274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Two-phase revised simplex + branch-and-bound.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8" y="4425695"/>
            <a:ext cx="49834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E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553711"/>
            <a:ext cx="465429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48C41"/>
                </a:solidFill>
                <a:latin typeface="Arial"/>
              </a:rPr>
              <a:t>No solver dependency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901183"/>
            <a:ext cx="4654296" cy="274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No CPLEX/Gurobi/HiGHS/CBC/GLPK/OR-Tools/PuLP/Pyomo/CVXPY/scipy.optimize import.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9808" y="5175503"/>
            <a:ext cx="49834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E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03519"/>
            <a:ext cx="465429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48C41"/>
                </a:solidFill>
                <a:latin typeface="Arial"/>
              </a:rPr>
              <a:t>Fail-loud correctness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50991"/>
            <a:ext cx="4654296" cy="274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OPTIMAL implies independent verification passed.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3675887"/>
            <a:ext cx="5074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9672" y="3803903"/>
            <a:ext cx="474573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FF6E1F"/>
                </a:solidFill>
                <a:latin typeface="Arial"/>
              </a:rPr>
              <a:t>C++17 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9672" y="4151375"/>
            <a:ext cx="4745736" cy="274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Port validated algorithms to the PS-preferred production stack.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55080" y="4425695"/>
            <a:ext cx="5074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9672" y="4553711"/>
            <a:ext cx="474573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FF6E1F"/>
                </a:solidFill>
                <a:latin typeface="Arial"/>
              </a:rPr>
              <a:t>Sparse LU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9672" y="4901183"/>
            <a:ext cx="4745736" cy="274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Replace dense O(m^3) basis solves and add updates.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55080" y="5175503"/>
            <a:ext cx="5074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19672" y="5303519"/>
            <a:ext cx="474573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FF6E1F"/>
                </a:solidFill>
                <a:latin typeface="Arial"/>
              </a:rPr>
              <a:t>GPU investigation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9672" y="5650991"/>
            <a:ext cx="4745736" cy="274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Profile first; accelerate only kernels with measured benefit.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4592"/>
            <a:ext cx="76809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900" b="1">
                <a:solidFill>
                  <a:srgbClr val="1F497D"/>
                </a:solidFill>
                <a:latin typeface="Georgia"/>
              </a:rP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01168"/>
            <a:ext cx="1965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400" b="1">
                <a:solidFill>
                  <a:srgbClr val="1F497D"/>
                </a:solidFill>
                <a:latin typeface="Arial"/>
              </a:rPr>
              <a:t>PS SIH26119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8813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Georgia"/>
              </a:rPr>
              <a:t>HOW IT ADDRESSES 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61872"/>
            <a:ext cx="10835640" cy="32004"/>
          </a:xfrm>
          <a:prstGeom prst="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697480"/>
                </a:solidFill>
                <a:latin typeface="Arial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8288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800" b="1">
                <a:solidFill>
                  <a:srgbClr val="FF6E1F"/>
                </a:solidFill>
                <a:latin typeface="Arial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1600200"/>
            <a:ext cx="18288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800" b="1">
                <a:solidFill>
                  <a:srgbClr val="148C41"/>
                </a:solidFill>
                <a:latin typeface="Arial"/>
              </a:rPr>
              <a:t>AFTER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57400"/>
            <a:ext cx="3063240" cy="868680"/>
          </a:xfrm>
          <a:prstGeom prst="roundRect">
            <a:avLst/>
          </a:prstGeom>
          <a:solidFill>
            <a:srgbClr val="FFEFE5"/>
          </a:solidFill>
          <a:ln w="12700">
            <a:solidFill>
              <a:srgbClr val="F2D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185416"/>
            <a:ext cx="273405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FF6E1F"/>
                </a:solidFill>
                <a:latin typeface="Arial"/>
              </a:rPr>
              <a:t>Opaque foreign solver dependency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532888"/>
            <a:ext cx="2734056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Industrial planning depends on commercial black-box engines.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27248"/>
            <a:ext cx="3063240" cy="868680"/>
          </a:xfrm>
          <a:prstGeom prst="roundRect">
            <a:avLst/>
          </a:prstGeom>
          <a:solidFill>
            <a:srgbClr val="FFEFE5"/>
          </a:solidFill>
          <a:ln w="12700">
            <a:solidFill>
              <a:srgbClr val="F2D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255264"/>
            <a:ext cx="273405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FF6E1F"/>
                </a:solidFill>
                <a:latin typeface="Arial"/>
              </a:rPr>
              <a:t>Unverifiable result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602736"/>
            <a:ext cx="2734056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A status field can be trusted only if feasibility and objective are rechecked.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97096"/>
            <a:ext cx="3063240" cy="868680"/>
          </a:xfrm>
          <a:prstGeom prst="roundRect">
            <a:avLst/>
          </a:prstGeom>
          <a:solidFill>
            <a:srgbClr val="FFEFE5"/>
          </a:solidFill>
          <a:ln w="12700">
            <a:solidFill>
              <a:srgbClr val="F2D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325112"/>
            <a:ext cx="273405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FF6E1F"/>
                </a:solidFill>
                <a:latin typeface="Arial"/>
              </a:rPr>
              <a:t>Scaling risk hidden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672584"/>
            <a:ext cx="2734056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Ill-conditioned models can fail or silently mislead if not tested.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69080" y="2487168"/>
            <a:ext cx="3749040" cy="0"/>
          </a:xfrm>
          <a:prstGeom prst="line">
            <a:avLst/>
          </a:prstGeom>
          <a:ln w="3302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983480" y="2286000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F497D"/>
                </a:solidFill>
                <a:latin typeface="Arial"/>
              </a:rPr>
              <a:t>validated prototype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69080" y="3557016"/>
            <a:ext cx="3749040" cy="0"/>
          </a:xfrm>
          <a:prstGeom prst="line">
            <a:avLst/>
          </a:prstGeom>
          <a:ln w="3302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983480" y="3355848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F497D"/>
                </a:solidFill>
                <a:latin typeface="Arial"/>
              </a:rPr>
              <a:t>validated prototype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69080" y="4626864"/>
            <a:ext cx="3749040" cy="0"/>
          </a:xfrm>
          <a:prstGeom prst="line">
            <a:avLst/>
          </a:prstGeom>
          <a:ln w="3302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983480" y="4425696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F497D"/>
                </a:solidFill>
                <a:latin typeface="Arial"/>
              </a:rPr>
              <a:t>validated prototype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057400"/>
            <a:ext cx="3063240" cy="868680"/>
          </a:xfrm>
          <a:prstGeom prst="roundRect">
            <a:avLst/>
          </a:prstGeom>
          <a:solidFill>
            <a:srgbClr val="E8F5ED"/>
          </a:solidFill>
          <a:ln w="12700">
            <a:solidFill>
              <a:srgbClr val="C7E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2185416"/>
            <a:ext cx="273405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48C41"/>
                </a:solidFill>
                <a:latin typeface="Arial"/>
              </a:rPr>
              <a:t>From-scratch solver 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2532888"/>
            <a:ext cx="2734056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Basis solves, simplex pivots and B&amp;B search live in this repo.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127248"/>
            <a:ext cx="3063240" cy="868680"/>
          </a:xfrm>
          <a:prstGeom prst="roundRect">
            <a:avLst/>
          </a:prstGeom>
          <a:solidFill>
            <a:srgbClr val="E8F5ED"/>
          </a:solidFill>
          <a:ln w="12700">
            <a:solidFill>
              <a:srgbClr val="C7E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3255264"/>
            <a:ext cx="273405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48C41"/>
                </a:solidFill>
                <a:latin typeface="Arial"/>
              </a:rPr>
              <a:t>Independent verification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3602736"/>
            <a:ext cx="2734056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Every reported solution is recomputed against the original model.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197096"/>
            <a:ext cx="3063240" cy="868680"/>
          </a:xfrm>
          <a:prstGeom prst="roundRect">
            <a:avLst/>
          </a:prstGeom>
          <a:solidFill>
            <a:srgbClr val="E8F5ED"/>
          </a:solidFill>
          <a:ln w="12700">
            <a:solidFill>
              <a:srgbClr val="C7E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4325112"/>
            <a:ext cx="273405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48C41"/>
                </a:solidFill>
                <a:latin typeface="Arial"/>
              </a:rPr>
              <a:t>Measured numerical guard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4672584"/>
            <a:ext cx="2734056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Threshold-gated equilibration solves ill-conditioned test cases.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742432"/>
            <a:ext cx="960120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F497D"/>
                </a:solidFill>
                <a:latin typeface="Arial"/>
              </a:rPr>
              <a:t>Impact discipline: no external-solver speed claims, no commercial comparison, no fake benchmark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4592"/>
            <a:ext cx="76809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900" b="1">
                <a:solidFill>
                  <a:srgbClr val="1F497D"/>
                </a:solidFill>
                <a:latin typeface="Georgia"/>
              </a:rP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01168"/>
            <a:ext cx="1965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400" b="1">
                <a:solidFill>
                  <a:srgbClr val="1F497D"/>
                </a:solidFill>
                <a:latin typeface="Arial"/>
              </a:rPr>
              <a:t>PS SIH26119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8813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Georgia"/>
              </a:rPr>
              <a:t>INNOVATION AND UNIQUENESS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61872"/>
            <a:ext cx="10835640" cy="32004"/>
          </a:xfrm>
          <a:prstGeom prst="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697480"/>
                </a:solidFill>
                <a:latin typeface="Arial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0292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800" b="1">
                <a:solidFill>
                  <a:srgbClr val="1F497D"/>
                </a:solidFill>
                <a:latin typeface="Arial"/>
              </a:rPr>
              <a:t>What is unique in this SIH prototype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74519"/>
            <a:ext cx="3547872" cy="1234440"/>
          </a:xfrm>
          <a:prstGeom prst="roundRect">
            <a:avLst/>
          </a:prstGeom>
          <a:solidFill>
            <a:srgbClr val="E4EEFA"/>
          </a:solidFill>
          <a:ln w="12700">
            <a:solidFill>
              <a:srgbClr val="D4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02535"/>
            <a:ext cx="321868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Arial"/>
              </a:rPr>
              <a:t>Sovereign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50007"/>
            <a:ext cx="3218688" cy="6675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Optimization algorithms are implemented in project code, not delegated to solver libraries.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1999" y="1874519"/>
            <a:ext cx="3547872" cy="1234440"/>
          </a:xfrm>
          <a:prstGeom prst="roundRect">
            <a:avLst/>
          </a:prstGeom>
          <a:solidFill>
            <a:srgbClr val="E8F5ED"/>
          </a:solidFill>
          <a:ln w="12700">
            <a:solidFill>
              <a:srgbClr val="D4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1" y="2002535"/>
            <a:ext cx="321868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48C41"/>
                </a:solidFill>
                <a:latin typeface="Arial"/>
              </a:rPr>
              <a:t>Fail-loud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1" y="2350007"/>
            <a:ext cx="3218688" cy="6675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A failed independent recheck downgrades status to NUMERICAL_FAILURE.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94190" y="1874519"/>
            <a:ext cx="3547872" cy="1234440"/>
          </a:xfrm>
          <a:prstGeom prst="roundRect">
            <a:avLst/>
          </a:prstGeom>
          <a:solidFill>
            <a:srgbClr val="FFEFE5"/>
          </a:solidFill>
          <a:ln w="12700">
            <a:solidFill>
              <a:srgbClr val="D4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58782" y="2002535"/>
            <a:ext cx="321868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FF6E1F"/>
                </a:solidFill>
                <a:latin typeface="Arial"/>
              </a:rPr>
              <a:t>Measured scaling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58782" y="2350007"/>
            <a:ext cx="3218688" cy="6675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Power-of-two equilibration repairs two ill-conditioned LP failures at 1.00x same-process runtime.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11880"/>
            <a:ext cx="3200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</a:rPr>
              <a:t>Equilibration A/B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32503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E3440"/>
                </a:solidFill>
                <a:latin typeface="Arial"/>
              </a:rPr>
              <a:t>Scaling off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4050791"/>
            <a:ext cx="1783080" cy="187756"/>
          </a:xfrm>
          <a:prstGeom prst="roundRect">
            <a:avLst/>
          </a:prstGeom>
          <a:solidFill>
            <a:srgbClr val="FF6E1F"/>
          </a:solidFill>
          <a:ln w="12700">
            <a:solidFill>
              <a:srgbClr val="FF6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30952" y="4032503"/>
            <a:ext cx="640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E3440"/>
                </a:solidFill>
                <a:latin typeface="Arial"/>
              </a:rPr>
              <a:t>13/15 solved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459223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E3440"/>
                </a:solidFill>
                <a:latin typeface="Arial"/>
              </a:rPr>
              <a:t>Auto default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4477511"/>
            <a:ext cx="2057400" cy="187756"/>
          </a:xfrm>
          <a:prstGeom prst="roundRect">
            <a:avLst/>
          </a:prstGeom>
          <a:solidFill>
            <a:srgbClr val="148C41"/>
          </a:solidFill>
          <a:ln w="12700">
            <a:solidFill>
              <a:srgbClr val="148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0952" y="4459223"/>
            <a:ext cx="640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E3440"/>
                </a:solidFill>
                <a:latin typeface="Arial"/>
              </a:rPr>
              <a:t>15/15 solved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85943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E3440"/>
                </a:solidFill>
                <a:latin typeface="Arial"/>
              </a:rPr>
              <a:t>Always 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4904231"/>
            <a:ext cx="2057400" cy="187756"/>
          </a:xfrm>
          <a:prstGeom prst="roundRect">
            <a:avLst/>
          </a:prstGeom>
          <a:solidFill>
            <a:srgbClr val="1F497D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30952" y="4885943"/>
            <a:ext cx="640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E3440"/>
                </a:solidFill>
                <a:latin typeface="Arial"/>
              </a:rPr>
              <a:t>15/15 solved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096512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E3440"/>
                </a:solidFill>
                <a:latin typeface="Arial"/>
              </a:rPr>
              <a:t>Known optima off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32520" y="4114800"/>
            <a:ext cx="1200150" cy="201168"/>
          </a:xfrm>
          <a:prstGeom prst="roundRect">
            <a:avLst/>
          </a:prstGeom>
          <a:solidFill>
            <a:srgbClr val="FF6E1F"/>
          </a:solidFill>
          <a:ln w="12700">
            <a:solidFill>
              <a:srgbClr val="FF6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05872" y="4096512"/>
            <a:ext cx="640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E3440"/>
                </a:solidFill>
                <a:latin typeface="Arial"/>
              </a:rPr>
              <a:t>6/8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553712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E3440"/>
                </a:solidFill>
                <a:latin typeface="Arial"/>
              </a:rPr>
              <a:t>Known optima auto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32520" y="4572000"/>
            <a:ext cx="1600200" cy="201168"/>
          </a:xfrm>
          <a:prstGeom prst="roundRect">
            <a:avLst/>
          </a:prstGeom>
          <a:solidFill>
            <a:srgbClr val="148C41"/>
          </a:solidFill>
          <a:ln w="12700">
            <a:solidFill>
              <a:srgbClr val="148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05872" y="4553712"/>
            <a:ext cx="640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E3440"/>
                </a:solidFill>
                <a:latin typeface="Arial"/>
              </a:rPr>
              <a:t>8/8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806440"/>
            <a:ext cx="98755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E3440"/>
                </a:solidFill>
                <a:latin typeface="Arial"/>
              </a:rPr>
              <a:t>Build next: sparse factorization, warm starts, C++17, reference benchmarks, and GPU only after profiling.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4592"/>
            <a:ext cx="76809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900" b="1">
                <a:solidFill>
                  <a:srgbClr val="1F497D"/>
                </a:solidFill>
                <a:latin typeface="Georgia"/>
              </a:rP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01168"/>
            <a:ext cx="1965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400" b="1">
                <a:solidFill>
                  <a:srgbClr val="1F497D"/>
                </a:solidFill>
                <a:latin typeface="Arial"/>
              </a:rPr>
              <a:t>PS SIH26119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8813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Georgia"/>
              </a:rPr>
              <a:t>TECHNICAL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61872"/>
            <a:ext cx="10835640" cy="32004"/>
          </a:xfrm>
          <a:prstGeom prst="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697480"/>
                </a:solidFill>
                <a:latin typeface="Arial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1572768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19656"/>
            <a:ext cx="124358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Arial"/>
              </a:rPr>
              <a:t>Problem representation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67128"/>
            <a:ext cx="1243584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Variable, Constraint, Model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95728" y="2185416"/>
            <a:ext cx="274320" cy="0"/>
          </a:xfrm>
          <a:prstGeom prst="line">
            <a:avLst/>
          </a:prstGeom>
          <a:ln w="25400">
            <a:solidFill>
              <a:srgbClr val="FF6E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670048" y="1691640"/>
            <a:ext cx="1572768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819656"/>
            <a:ext cx="124358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Arial"/>
              </a:rPr>
              <a:t>Presolve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167128"/>
            <a:ext cx="1243584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fixed variables, empty rows, singleton bound tightening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42816" y="2185416"/>
            <a:ext cx="274320" cy="0"/>
          </a:xfrm>
          <a:prstGeom prst="line">
            <a:avLst/>
          </a:prstGeom>
          <a:ln w="25400">
            <a:solidFill>
              <a:srgbClr val="FF6E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17136" y="1691640"/>
            <a:ext cx="1572768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1819656"/>
            <a:ext cx="124358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Arial"/>
              </a:rPr>
              <a:t>LP solver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167128"/>
            <a:ext cx="1243584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two-phase revised simplex; Bland's rule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9904" y="2185416"/>
            <a:ext cx="274320" cy="0"/>
          </a:xfrm>
          <a:prstGeom prst="line">
            <a:avLst/>
          </a:prstGeom>
          <a:ln w="25400">
            <a:solidFill>
              <a:srgbClr val="FF6E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64224" y="1691640"/>
            <a:ext cx="1572768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28816" y="1819656"/>
            <a:ext cx="124358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Arial"/>
              </a:rPr>
              <a:t>Linear algebra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167128"/>
            <a:ext cx="1243584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own Gaussian elimination with partial pivoting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36992" y="2185416"/>
            <a:ext cx="274320" cy="0"/>
          </a:xfrm>
          <a:prstGeom prst="line">
            <a:avLst/>
          </a:prstGeom>
          <a:ln w="25400">
            <a:solidFill>
              <a:srgbClr val="FF6E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211312" y="1691640"/>
            <a:ext cx="1572768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1819656"/>
            <a:ext cx="124358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Arial"/>
              </a:rPr>
              <a:t>MILP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2167128"/>
            <a:ext cx="1243584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LP relaxations inside branch-and-bound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784080" y="2185416"/>
            <a:ext cx="274320" cy="0"/>
          </a:xfrm>
          <a:prstGeom prst="line">
            <a:avLst/>
          </a:prstGeom>
          <a:ln w="25400">
            <a:solidFill>
              <a:srgbClr val="FF6E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058400" y="1691640"/>
            <a:ext cx="1572768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22992" y="1819656"/>
            <a:ext cx="124358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48C41"/>
                </a:solidFill>
                <a:latin typeface="Arial"/>
              </a:rPr>
              <a:t>Verification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2992" y="2167128"/>
            <a:ext cx="1243584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bounds, constraints, integrality, objective recomputed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200400"/>
            <a:ext cx="23774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Repository module map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3639312"/>
            <a:ext cx="1143000" cy="310896"/>
          </a:xfrm>
          <a:prstGeom prst="roundRect">
            <a:avLst/>
          </a:prstGeom>
          <a:solidFill>
            <a:srgbClr val="E4EEFA"/>
          </a:solidFill>
          <a:ln w="12700">
            <a:solidFill>
              <a:srgbClr val="E4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" y="3694176"/>
            <a:ext cx="996696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1">
                <a:solidFill>
                  <a:srgbClr val="1F497D"/>
                </a:solidFill>
                <a:latin typeface="Arial"/>
              </a:rPr>
              <a:t>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30552" y="3694176"/>
            <a:ext cx="21488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0">
                <a:solidFill>
                  <a:srgbClr val="2E3440"/>
                </a:solidFill>
                <a:latin typeface="Arial"/>
              </a:rPr>
              <a:t>model representation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3639312"/>
            <a:ext cx="1143000" cy="310896"/>
          </a:xfrm>
          <a:prstGeom prst="roundRect">
            <a:avLst/>
          </a:prstGeom>
          <a:solidFill>
            <a:srgbClr val="E4EEFA"/>
          </a:solidFill>
          <a:ln w="12700">
            <a:solidFill>
              <a:srgbClr val="E4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3694176"/>
            <a:ext cx="996696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1">
                <a:solidFill>
                  <a:srgbClr val="1F497D"/>
                </a:solidFill>
                <a:latin typeface="Arial"/>
              </a:rPr>
              <a:t>linalg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71232" y="3694176"/>
            <a:ext cx="21488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0">
                <a:solidFill>
                  <a:srgbClr val="2E3440"/>
                </a:solidFill>
                <a:latin typeface="Arial"/>
              </a:rPr>
              <a:t>Gaussian solve + scaling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4142232"/>
            <a:ext cx="1143000" cy="310896"/>
          </a:xfrm>
          <a:prstGeom prst="roundRect">
            <a:avLst/>
          </a:prstGeom>
          <a:solidFill>
            <a:srgbClr val="E4EEFA"/>
          </a:solidFill>
          <a:ln w="12700">
            <a:solidFill>
              <a:srgbClr val="E4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" y="4197096"/>
            <a:ext cx="996696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1">
                <a:solidFill>
                  <a:srgbClr val="1F497D"/>
                </a:solidFill>
                <a:latin typeface="Arial"/>
              </a:rPr>
              <a:t>lp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30552" y="4197096"/>
            <a:ext cx="21488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0">
                <a:solidFill>
                  <a:srgbClr val="2E3440"/>
                </a:solidFill>
                <a:latin typeface="Arial"/>
              </a:rPr>
              <a:t>simplex + orchestrator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4142232"/>
            <a:ext cx="1143000" cy="310896"/>
          </a:xfrm>
          <a:prstGeom prst="roundRect">
            <a:avLst/>
          </a:prstGeom>
          <a:solidFill>
            <a:srgbClr val="E4EEFA"/>
          </a:solidFill>
          <a:ln w="12700">
            <a:solidFill>
              <a:srgbClr val="E4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2512" y="4197096"/>
            <a:ext cx="996696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1">
                <a:solidFill>
                  <a:srgbClr val="1F497D"/>
                </a:solidFill>
                <a:latin typeface="Arial"/>
              </a:rPr>
              <a:t>milp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71232" y="4197096"/>
            <a:ext cx="21488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0">
                <a:solidFill>
                  <a:srgbClr val="2E3440"/>
                </a:solidFill>
                <a:latin typeface="Arial"/>
              </a:rPr>
              <a:t>branch-and-bound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" y="4645152"/>
            <a:ext cx="1143000" cy="310896"/>
          </a:xfrm>
          <a:prstGeom prst="roundRect">
            <a:avLst/>
          </a:prstGeom>
          <a:solidFill>
            <a:srgbClr val="E4EEFA"/>
          </a:solidFill>
          <a:ln w="12700">
            <a:solidFill>
              <a:srgbClr val="E4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" y="4700016"/>
            <a:ext cx="996696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1">
                <a:solidFill>
                  <a:srgbClr val="1F497D"/>
                </a:solidFill>
                <a:latin typeface="Arial"/>
              </a:rPr>
              <a:t>io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30552" y="4700016"/>
            <a:ext cx="21488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0">
                <a:solidFill>
                  <a:srgbClr val="2E3440"/>
                </a:solidFill>
                <a:latin typeface="Arial"/>
              </a:rPr>
              <a:t>basic MPS I/O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9360" y="4645152"/>
            <a:ext cx="1143000" cy="310896"/>
          </a:xfrm>
          <a:prstGeom prst="roundRect">
            <a:avLst/>
          </a:prstGeom>
          <a:solidFill>
            <a:srgbClr val="E4EEFA"/>
          </a:solidFill>
          <a:ln w="12700">
            <a:solidFill>
              <a:srgbClr val="E4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82512" y="4700016"/>
            <a:ext cx="996696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1">
                <a:solidFill>
                  <a:srgbClr val="1F497D"/>
                </a:solidFill>
                <a:latin typeface="Arial"/>
              </a:rPr>
              <a:t>industrial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71232" y="4700016"/>
            <a:ext cx="21488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0">
                <a:solidFill>
                  <a:srgbClr val="2E3440"/>
                </a:solidFill>
                <a:latin typeface="Arial"/>
              </a:rPr>
              <a:t>synthetic refinery cases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534924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Current prototype scope boundary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5715000"/>
            <a:ext cx="10241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400" b="1">
                <a:solidFill>
                  <a:srgbClr val="FF6E1F"/>
                </a:solidFill>
                <a:latin typeface="Arial"/>
              </a:rPr>
              <a:t>Validated Python algorithm prototype; not yet sparse-LU, C++17, GPU, dual simplex, cuts, or production-scale.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4592"/>
            <a:ext cx="76809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900" b="1">
                <a:solidFill>
                  <a:srgbClr val="1F497D"/>
                </a:solidFill>
                <a:latin typeface="Georgia"/>
              </a:rP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01168"/>
            <a:ext cx="1965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400" b="1">
                <a:solidFill>
                  <a:srgbClr val="1F497D"/>
                </a:solidFill>
                <a:latin typeface="Arial"/>
              </a:rPr>
              <a:t>PS SIH26119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8813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Georgia"/>
              </a:rPr>
              <a:t>FEASIBILITY AND VIABILITY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61872"/>
            <a:ext cx="10835640" cy="32004"/>
          </a:xfrm>
          <a:prstGeom prst="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697480"/>
                </a:solidFill>
                <a:latin typeface="Arial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27632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16916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F497D"/>
                </a:solidFill>
                <a:latin typeface="Arial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150876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2E3440"/>
                </a:solidFill>
                <a:latin typeface="Arial"/>
              </a:rPr>
              <a:t>instances 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39" y="1627632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39" y="1755648"/>
            <a:ext cx="16916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F497D"/>
                </a:solidFill>
                <a:latin typeface="Arial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2148840"/>
            <a:ext cx="150876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2E3440"/>
                </a:solidFill>
                <a:latin typeface="Arial"/>
              </a:rPr>
              <a:t>optimal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8" y="1627632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8" y="1755648"/>
            <a:ext cx="16916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F497D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8" y="2148840"/>
            <a:ext cx="150876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2E3440"/>
                </a:solidFill>
                <a:latin typeface="Arial"/>
              </a:rPr>
              <a:t>infeasible detected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7" y="1627632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77" y="1755648"/>
            <a:ext cx="16916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F497D"/>
                </a:solidFill>
                <a:latin typeface="Arial"/>
              </a:rPr>
              <a:t>14/15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17" y="2148840"/>
            <a:ext cx="150876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2E3440"/>
                </a:solidFill>
                <a:latin typeface="Arial"/>
              </a:rPr>
              <a:t>verified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596" y="1627632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6" y="1755648"/>
            <a:ext cx="16916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F497D"/>
                </a:solidFill>
                <a:latin typeface="Arial"/>
              </a:rPr>
              <a:t>8/8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6" y="2148840"/>
            <a:ext cx="150876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2E3440"/>
                </a:solidFill>
                <a:latin typeface="Arial"/>
              </a:rPr>
              <a:t>known optima matched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04115" y="1627632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115" y="1755648"/>
            <a:ext cx="16916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F497D"/>
                </a:solidFill>
                <a:latin typeface="Arial"/>
              </a:rPr>
              <a:t>0.1352s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55" y="2148840"/>
            <a:ext cx="150876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2E3440"/>
                </a:solidFill>
                <a:latin typeface="Arial"/>
              </a:rPr>
              <a:t>avg runtime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035808"/>
            <a:ext cx="49377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Runtime growth exposes the next engineering need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438144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E3440"/>
                </a:solidFill>
                <a:latin typeface="Arial"/>
              </a:rPr>
              <a:t>refinery small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54680" y="3456432"/>
            <a:ext cx="3243" cy="194462"/>
          </a:xfrm>
          <a:prstGeom prst="roundRect">
            <a:avLst/>
          </a:prstGeom>
          <a:solidFill>
            <a:srgbClr val="148C41"/>
          </a:solidFill>
          <a:ln w="12700">
            <a:solidFill>
              <a:srgbClr val="148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22392" y="3438144"/>
            <a:ext cx="640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E3440"/>
                </a:solidFill>
                <a:latin typeface="Arial"/>
              </a:rPr>
              <a:t>0.0028s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880104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E3440"/>
                </a:solidFill>
                <a:latin typeface="Arial"/>
              </a:rPr>
              <a:t>refinery medium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54680" y="3898392"/>
            <a:ext cx="98926" cy="194462"/>
          </a:xfrm>
          <a:prstGeom prst="roundRect">
            <a:avLst/>
          </a:prstGeom>
          <a:solidFill>
            <a:srgbClr val="1F497D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22392" y="3880104"/>
            <a:ext cx="640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E3440"/>
                </a:solidFill>
                <a:latin typeface="Arial"/>
              </a:rPr>
              <a:t>0.0854s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322064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E3440"/>
                </a:solidFill>
                <a:latin typeface="Arial"/>
              </a:rPr>
              <a:t>refinery large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54680" y="4340352"/>
            <a:ext cx="2194560" cy="194462"/>
          </a:xfrm>
          <a:prstGeom prst="roundRect">
            <a:avLst/>
          </a:prstGeom>
          <a:solidFill>
            <a:srgbClr val="FF6E1F"/>
          </a:solidFill>
          <a:ln w="12700">
            <a:solidFill>
              <a:srgbClr val="FF6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22392" y="4322064"/>
            <a:ext cx="640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E3440"/>
                </a:solidFill>
                <a:latin typeface="Arial"/>
              </a:rPr>
              <a:t>1.8945s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035808"/>
            <a:ext cx="23774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Viability reading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429000"/>
            <a:ext cx="4754880" cy="749808"/>
          </a:xfrm>
          <a:prstGeom prst="roundRect">
            <a:avLst/>
          </a:prstGeom>
          <a:solidFill>
            <a:srgbClr val="E8F5ED"/>
          </a:solidFill>
          <a:ln w="12700">
            <a:solidFill>
              <a:srgbClr val="C7E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65392" y="3557016"/>
            <a:ext cx="442569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48C41"/>
                </a:solidFill>
                <a:latin typeface="Arial"/>
              </a:rPr>
              <a:t>Validated now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65392" y="3904488"/>
            <a:ext cx="44256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Correctness and verification path are demonstrated on small benchmark and synthetic refinery cases.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315968"/>
            <a:ext cx="4754880" cy="896112"/>
          </a:xfrm>
          <a:prstGeom prst="roundRect">
            <a:avLst/>
          </a:prstGeom>
          <a:solidFill>
            <a:srgbClr val="FFEFE5"/>
          </a:solidFill>
          <a:ln w="12700">
            <a:solidFill>
              <a:srgbClr val="F2D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4443984"/>
            <a:ext cx="442569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FF6E1F"/>
                </a:solidFill>
                <a:latin typeface="Arial"/>
              </a:rPr>
              <a:t>Not claimed yet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5392" y="4791456"/>
            <a:ext cx="4425696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Large-scale performance, GPU speedup, Netlib/MIPLIB validation, and commercial-solver comparison are not established.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5349240"/>
            <a:ext cx="4754880" cy="658368"/>
          </a:xfrm>
          <a:prstGeom prst="roundRect">
            <a:avLst/>
          </a:prstGeom>
          <a:solidFill>
            <a:srgbClr val="E4EEFA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5477256"/>
            <a:ext cx="442569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Arial"/>
              </a:rPr>
              <a:t>Next viability milestone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65392" y="5824728"/>
            <a:ext cx="4425696" cy="91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Sparse LU with updates plus real MPS benchmark validation before any production claim.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4592"/>
            <a:ext cx="76809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900" b="1">
                <a:solidFill>
                  <a:srgbClr val="1F497D"/>
                </a:solidFill>
                <a:latin typeface="Georgia"/>
              </a:rP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01168"/>
            <a:ext cx="1965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400" b="1">
                <a:solidFill>
                  <a:srgbClr val="1F497D"/>
                </a:solidFill>
                <a:latin typeface="Arial"/>
              </a:rPr>
              <a:t>PS SIH26119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8813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Georgia"/>
              </a:rPr>
              <a:t>IMPACT AND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61872"/>
            <a:ext cx="10835640" cy="32004"/>
          </a:xfrm>
          <a:prstGeom prst="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697480"/>
                </a:solidFill>
                <a:latin typeface="Arial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36576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800" b="1">
                <a:solidFill>
                  <a:srgbClr val="1F497D"/>
                </a:solidFill>
                <a:latin typeface="Arial"/>
              </a:rPr>
              <a:t>BEFORE -&gt; AFTER 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01952"/>
            <a:ext cx="3657600" cy="658368"/>
          </a:xfrm>
          <a:prstGeom prst="roundRect">
            <a:avLst/>
          </a:prstGeom>
          <a:solidFill>
            <a:srgbClr val="FFEFE5"/>
          </a:solidFill>
          <a:ln w="12700">
            <a:solidFill>
              <a:srgbClr val="F2D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029968"/>
            <a:ext cx="332841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FF6E1F"/>
                </a:solidFill>
                <a:latin typeface="Arial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377440"/>
            <a:ext cx="3328416" cy="91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Foreign black-box solver dependency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17720" y="2231136"/>
            <a:ext cx="1783080" cy="0"/>
          </a:xfrm>
          <a:prstGeom prst="line">
            <a:avLst/>
          </a:prstGeom>
          <a:ln w="254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629400" y="1901952"/>
            <a:ext cx="4023360" cy="658368"/>
          </a:xfrm>
          <a:prstGeom prst="roundRect">
            <a:avLst/>
          </a:prstGeom>
          <a:solidFill>
            <a:srgbClr val="E8F5ED"/>
          </a:solidFill>
          <a:ln w="12700">
            <a:solidFill>
              <a:srgbClr val="C7E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2029968"/>
            <a:ext cx="369417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48C41"/>
                </a:solidFill>
                <a:latin typeface="Arial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3992" y="2377440"/>
            <a:ext cx="3694176" cy="91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Inspectable indigenous solver 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816352"/>
            <a:ext cx="3657600" cy="658368"/>
          </a:xfrm>
          <a:prstGeom prst="roundRect">
            <a:avLst/>
          </a:prstGeom>
          <a:solidFill>
            <a:srgbClr val="FFEFE5"/>
          </a:solidFill>
          <a:ln w="12700">
            <a:solidFill>
              <a:srgbClr val="F2D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2944368"/>
            <a:ext cx="332841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FF6E1F"/>
                </a:solidFill>
                <a:latin typeface="Arial"/>
              </a:rPr>
              <a:t>Before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291840"/>
            <a:ext cx="3328416" cy="91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Prototype failures can be hidden by status-only checks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17720" y="3145536"/>
            <a:ext cx="1783080" cy="0"/>
          </a:xfrm>
          <a:prstGeom prst="line">
            <a:avLst/>
          </a:prstGeom>
          <a:ln w="254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629400" y="2816352"/>
            <a:ext cx="4023360" cy="658368"/>
          </a:xfrm>
          <a:prstGeom prst="roundRect">
            <a:avLst/>
          </a:prstGeom>
          <a:solidFill>
            <a:srgbClr val="E8F5ED"/>
          </a:solidFill>
          <a:ln w="12700">
            <a:solidFill>
              <a:srgbClr val="C7E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93992" y="2944368"/>
            <a:ext cx="369417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48C41"/>
                </a:solidFill>
                <a:latin typeface="Arial"/>
              </a:rPr>
              <a:t>After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3992" y="3291840"/>
            <a:ext cx="3694176" cy="91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Fail-loud verification contract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730752"/>
            <a:ext cx="3657600" cy="658368"/>
          </a:xfrm>
          <a:prstGeom prst="roundRect">
            <a:avLst/>
          </a:prstGeom>
          <a:solidFill>
            <a:srgbClr val="FFEFE5"/>
          </a:solidFill>
          <a:ln w="12700">
            <a:solidFill>
              <a:srgbClr val="F2D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3858768"/>
            <a:ext cx="332841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FF6E1F"/>
                </a:solidFill>
                <a:latin typeface="Arial"/>
              </a:rPr>
              <a:t>Before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206240"/>
            <a:ext cx="3328416" cy="91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Numerical scaling risk discovered late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617720" y="4059936"/>
            <a:ext cx="1783080" cy="0"/>
          </a:xfrm>
          <a:prstGeom prst="line">
            <a:avLst/>
          </a:prstGeom>
          <a:ln w="254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629400" y="3730752"/>
            <a:ext cx="4023360" cy="658368"/>
          </a:xfrm>
          <a:prstGeom prst="roundRect">
            <a:avLst/>
          </a:prstGeom>
          <a:solidFill>
            <a:srgbClr val="E8F5ED"/>
          </a:solidFill>
          <a:ln w="12700">
            <a:solidFill>
              <a:srgbClr val="C7E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3858768"/>
            <a:ext cx="369417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48C41"/>
                </a:solidFill>
                <a:latin typeface="Arial"/>
              </a:rPr>
              <a:t>After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3992" y="4206240"/>
            <a:ext cx="3694176" cy="91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Threshold-gated equilibration with A/B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645152"/>
            <a:ext cx="3657600" cy="658368"/>
          </a:xfrm>
          <a:prstGeom prst="roundRect">
            <a:avLst/>
          </a:prstGeom>
          <a:solidFill>
            <a:srgbClr val="FFEFE5"/>
          </a:solidFill>
          <a:ln w="12700">
            <a:solidFill>
              <a:srgbClr val="F2D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4773168"/>
            <a:ext cx="332841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FF6E1F"/>
                </a:solidFill>
                <a:latin typeface="Arial"/>
              </a:rPr>
              <a:t>Before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5120640"/>
            <a:ext cx="3328416" cy="91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Roadmap guesses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617720" y="4974336"/>
            <a:ext cx="1783080" cy="0"/>
          </a:xfrm>
          <a:prstGeom prst="line">
            <a:avLst/>
          </a:prstGeom>
          <a:ln w="254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629400" y="4645152"/>
            <a:ext cx="4023360" cy="658368"/>
          </a:xfrm>
          <a:prstGeom prst="roundRect">
            <a:avLst/>
          </a:prstGeom>
          <a:solidFill>
            <a:srgbClr val="E8F5ED"/>
          </a:solidFill>
          <a:ln w="12700">
            <a:solidFill>
              <a:srgbClr val="C7E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93992" y="4773168"/>
            <a:ext cx="369417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48C41"/>
                </a:solidFill>
                <a:latin typeface="Arial"/>
              </a:rPr>
              <a:t>After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3992" y="5120640"/>
            <a:ext cx="3694176" cy="91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Measured limitations drive build-next priorities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715000"/>
            <a:ext cx="219456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Target beneficiaries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4600" y="5715000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00" b="0">
                <a:solidFill>
                  <a:srgbClr val="2E3440"/>
                </a:solidFill>
                <a:latin typeface="Arial"/>
              </a:rPr>
              <a:t>Public-sector planners, refinery/blending schedulers, researchers, and Indian engineering teams that need auditable optimization infrastructure.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4592"/>
            <a:ext cx="76809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900" b="1">
                <a:solidFill>
                  <a:srgbClr val="1F497D"/>
                </a:solidFill>
                <a:latin typeface="Georgia"/>
              </a:rP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01168"/>
            <a:ext cx="1965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400" b="1">
                <a:solidFill>
                  <a:srgbClr val="1F497D"/>
                </a:solidFill>
                <a:latin typeface="Arial"/>
              </a:rPr>
              <a:t>PS SIH26119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8813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Georgia"/>
              </a:rPr>
              <a:t>RESEARCH AND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61872"/>
            <a:ext cx="10835640" cy="32004"/>
          </a:xfrm>
          <a:prstGeom prst="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697480"/>
                </a:solidFill>
                <a:latin typeface="Arial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3383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800" b="1">
                <a:solidFill>
                  <a:srgbClr val="1F497D"/>
                </a:solidFill>
                <a:latin typeface="Arial"/>
              </a:rPr>
              <a:t>Evidence used in this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4800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002535"/>
            <a:ext cx="447141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Arial"/>
              </a:rPr>
              <a:t>Project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350007"/>
            <a:ext cx="4471416" cy="91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README.md - prototype scope, dependency boundary, commands, measured summary.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743199"/>
            <a:ext cx="4800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71215"/>
            <a:ext cx="447141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Arial"/>
              </a:rPr>
              <a:t>Implementation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218687"/>
            <a:ext cx="4471416" cy="91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docs/status.md - implemented/tested items, known failures, roadmap.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11879"/>
            <a:ext cx="4800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739895"/>
            <a:ext cx="447141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Arial"/>
              </a:rPr>
              <a:t>Algorithms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087367"/>
            <a:ext cx="4471416" cy="91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docs/algorithms.md - simplex, presolve, MILP, scaling, verification details.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480559"/>
            <a:ext cx="4800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608575"/>
            <a:ext cx="447141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Arial"/>
              </a:rPr>
              <a:t>Limitations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956047"/>
            <a:ext cx="4471416" cy="91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docs/limitations.md - measured gaps: dense basis solves, B&amp;B limits, no Netlib/MIPLIB.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874519"/>
            <a:ext cx="4800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2002535"/>
            <a:ext cx="447141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48C41"/>
                </a:solidFill>
                <a:latin typeface="Arial"/>
              </a:rPr>
              <a:t>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350007"/>
            <a:ext cx="4471416" cy="91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docs/results.md and results/benchmark_results.csv - benchmark table and plots.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2743200"/>
            <a:ext cx="4800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2871216"/>
            <a:ext cx="447141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48C41"/>
                </a:solidFill>
                <a:latin typeface="Arial"/>
              </a:rPr>
              <a:t>Validation run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3218688"/>
            <a:ext cx="4471416" cy="91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pytest tests/ -q; scripts/run_benchmarks.py; scripts/ab_scaling.py; scripts/plot_results.py rerun in workspace.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3611879"/>
            <a:ext cx="4800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3739895"/>
            <a:ext cx="447141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Arial"/>
              </a:rPr>
              <a:t>SIH reference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4087367"/>
            <a:ext cx="4471416" cy="91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2E3440"/>
                </a:solidFill>
                <a:latin typeface="Arial"/>
              </a:rPr>
              <a:t>SIH2026117.pdf - section sequence and SIH-like minimal visual language.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709160"/>
            <a:ext cx="219456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FF6E1F"/>
                </a:solidFill>
                <a:latin typeface="Arial"/>
              </a:rPr>
              <a:t>Guardrails followed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084064"/>
            <a:ext cx="48006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400" b="1">
                <a:solidFill>
                  <a:srgbClr val="2E3440"/>
                </a:solidFill>
                <a:latin typeface="Arial"/>
              </a:rPr>
              <a:t>No invented team data, no commercial solver performance claim, no fake GPU result, no decorative AI imagery.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6080760"/>
            <a:ext cx="48463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F497D"/>
                </a:solidFill>
                <a:latin typeface="Arial"/>
              </a:rPr>
              <a:t>Output: SIH2026119.pptx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